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1eeaf7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1eeaf7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1eeaf778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1eeaf77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f1eeaf778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f1eeaf77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f1eeaf778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f1eeaf778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1eeaf778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f1eeaf778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1eeaf778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1eeaf778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1eeaf778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1eeaf778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1eeaf778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1eeaf778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1eeaf778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f1eeaf778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1eeaf778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1eeaf778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1eeaf778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1eeaf778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1eeaf778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1eeaf778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1eeaf778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f1eeaf778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f1eeaf7785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f1eeaf778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f1eeaf778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f1eeaf778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f1eeaf778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f1eeaf778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1eeaf778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f1eeaf778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1eeaf778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f1eeaf778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2d822cf49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f2d822cf49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1eeaf778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1eeaf778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1eeaf778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1eeaf778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1eeaf778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1eeaf778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f1eeaf778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f1eeaf778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eeaf778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1eeaf778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1eeaf778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f1eeaf778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f1eeaf778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f1eeaf778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f2d822cf4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f2d822cf4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f2d822cf49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f2d822cf49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1eeaf77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f1eeaf77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f1eeaf778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f1eeaf778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1eeaf778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f1eeaf778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f1eeaf778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f1eeaf778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1eeaf778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f1eeaf778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1eeaf7785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f1eeaf778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1eeaf778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f1eeaf778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1eeaf7785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f1eeaf778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f1eeaf778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f1eeaf778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be85b7953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be85b7953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f1eeaf778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f1eeaf778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f1eeaf778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f1eeaf778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be85b795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be85b795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be85b795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be85b795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f1eeaf778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f1eeaf778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f1eeaf778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f1eeaf778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f1eeaf778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f1eeaf778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f1eeaf778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f1eeaf778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f1eeaf77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f1eeaf77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f1eeaf778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f1eeaf778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f1eeaf778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f1eeaf778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f1eeaf778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f1eeaf778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f1eeaf7785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f1eeaf7785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f1eeaf7785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f1eeaf778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f1eeaf7785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f1eeaf7785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f1eeaf7785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f1eeaf7785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rOYmx5p_7KJSdDxh-ZkvmtwHfEs9QQ5CPTnz2ojC9ok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Softwarové inženýrství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Beránek Pavel,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Obsah seminářů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Proces a metodiky vývoje softwaru</a:t>
            </a:r>
            <a:r>
              <a:rPr lang="cs"/>
              <a:t>		21.2.2024		</a:t>
            </a:r>
            <a:r>
              <a:rPr i="1" lang="cs"/>
              <a:t>Beránek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Inženýrství požadavků	</a:t>
            </a:r>
            <a:r>
              <a:rPr lang="cs"/>
              <a:t>				28.2.2024		</a:t>
            </a:r>
            <a:r>
              <a:rPr i="1" lang="cs"/>
              <a:t>Beránek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Softwarová architektura	</a:t>
            </a:r>
            <a:r>
              <a:rPr lang="cs"/>
              <a:t>				6.3.2024			</a:t>
            </a:r>
            <a:r>
              <a:rPr i="1" lang="cs"/>
              <a:t>Beránek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Nástroje pro kontrolu verzí 1</a:t>
            </a:r>
            <a:r>
              <a:rPr lang="cs"/>
              <a:t>				13.3.2024		</a:t>
            </a:r>
            <a:r>
              <a:rPr i="1" lang="cs"/>
              <a:t>Hřebejk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Nástroje pro kontrolu verzí 2</a:t>
            </a:r>
            <a:r>
              <a:rPr lang="cs"/>
              <a:t>				20.3.2024		</a:t>
            </a:r>
            <a:r>
              <a:rPr i="1" lang="cs"/>
              <a:t>Hřebejk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Testování softwaru</a:t>
            </a:r>
            <a:r>
              <a:rPr lang="cs"/>
              <a:t>						27.3.2024		</a:t>
            </a:r>
            <a:r>
              <a:rPr i="1" lang="cs"/>
              <a:t>Maškov V.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Problematika API	</a:t>
            </a:r>
            <a:r>
              <a:rPr lang="cs"/>
              <a:t>					10.4.2024		</a:t>
            </a:r>
            <a:r>
              <a:rPr i="1" lang="cs"/>
              <a:t>Hřebejk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Evoluce softwaru	</a:t>
            </a:r>
            <a:r>
              <a:rPr lang="cs"/>
              <a:t>					17.4.2024		</a:t>
            </a:r>
            <a:r>
              <a:rPr i="1" lang="cs"/>
              <a:t>Beránek P.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Spolehlivost softwaru</a:t>
            </a:r>
            <a:r>
              <a:rPr lang="cs"/>
              <a:t>					24.4.2024		</a:t>
            </a:r>
            <a:r>
              <a:rPr i="1" lang="cs"/>
              <a:t>Maškov V.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cs"/>
              <a:t>Nasazení a podpora softwaru</a:t>
            </a:r>
            <a:r>
              <a:rPr lang="cs"/>
              <a:t>				15.5.2024		</a:t>
            </a:r>
            <a:r>
              <a:rPr i="1" lang="cs"/>
              <a:t>Svoboda J.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rgbClr val="980000"/>
                </a:solidFill>
              </a:rPr>
              <a:t>2x odpadnutí kvůli státním svátkům, 1x odpadnutí kvůli sportovnímu dni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Podmínky úspěšného splnění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19075"/>
            <a:ext cx="8520600" cy="4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Zápočet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</a:pPr>
            <a:r>
              <a:rPr lang="cs" strike="sngStrike">
                <a:solidFill>
                  <a:srgbClr val="980000"/>
                </a:solidFill>
              </a:rPr>
              <a:t>Praktická úloha v nástroji Git</a:t>
            </a:r>
            <a:endParaRPr strike="sngStrike">
              <a:solidFill>
                <a:srgbClr val="98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Odevzdání klasifikované seminární práce v textové podobě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Nabídka témat: </a:t>
            </a:r>
            <a:r>
              <a:rPr lang="cs" u="sng">
                <a:solidFill>
                  <a:schemeClr val="hlink"/>
                </a:solidFill>
                <a:hlinkClick r:id="rId3"/>
              </a:rPr>
              <a:t>ZDE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Téma může řešit jednotlivec nebo skupina maximálně o 3 studentech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Zkouška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Prezentace odevzdané klasifikované seminární práce a diskuze nad ní.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Kritéria hodnocení: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Počet řešitelů skupiny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Kvalita rešerše teoretických východisek z vědeckých článků a učebnic (stačí 5 zdrojů)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Kvalita výzkumné metodiky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Kvalita výstupů (softwarový prototyp, diagramy, grafy)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Kvalita přednesu prezentace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Kvalita odevzdané textové části seminární práce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Schopnost reagovat na otázky z obecenstva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Dodržení citační normy APA, typografických pravidel a pravopisu českého jazyka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Seminář 1</a:t>
            </a:r>
            <a:endParaRPr/>
          </a:p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Proces a metodiky </a:t>
            </a:r>
            <a:br>
              <a:rPr lang="cs"/>
            </a:br>
            <a:r>
              <a:rPr lang="cs"/>
              <a:t>vývoje softwaru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114964" y="4588175"/>
            <a:ext cx="52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200">
                <a:solidFill>
                  <a:schemeClr val="dk2"/>
                </a:solidFill>
              </a:rPr>
              <a:t>https://github.com/pavelberanek91/UJEP/tree/main/SWI/sem1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607575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1.1. Výroba, vývoj a tvorba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Inženýrství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disciplína, která se zabývá metodickým postupem jak navrhovat a implementovat produkt v požadované kvalitě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Softwarové inženýrství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 vytvářet (nebo upravovat) takový software, aby byl dependabilní.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Metodický postup, tedy návod jak postupovat, nazýváme procesem vývojem softwaru,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Formy kreativní lidské činnosti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Výroba</a:t>
            </a:r>
            <a:r>
              <a:rPr lang="cs"/>
              <a:t> - pokud se dodrží metodika, tak bude pokaždé produkt zcela stejný (výroba automobilu na sériové lince).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Tvorba</a:t>
            </a:r>
            <a:r>
              <a:rPr lang="cs"/>
              <a:t>- metodika se nedodržuje (nebo zanedbatelně), jelikož cílem je vytvořit pokaždé unikátní produkt (umělec maluje obraz).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Vývoj</a:t>
            </a:r>
            <a:r>
              <a:rPr lang="cs"/>
              <a:t> - metodika se dodržuje, ale je nutné ji upravit (nastavit parametry) a často improvizovat, tudíž produkt nebude nikdy stejný, ale bude často podobný.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1.2. Obecný model procesu vývoje softwaru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Proces vývoje softwaru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Proces je sekvence aktivit, aktivita je nějaká činnost/fáze (může také být procesem)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Fáze procesu vývoje softwaru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Analýza požadavků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Zjišťování toho, co se má vyvíjet.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Implementace požadavků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Navrhování a programování zjištěných požadavků.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Validace požadavků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Ověření toho, že vyvinutý program plní zjištěné požadavky.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Evoluce požadavků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Přidání nových nebo aktualizace existujících požadavků na program.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29208"/>
          <a:stretch/>
        </p:blipFill>
        <p:spPr>
          <a:xfrm>
            <a:off x="380325" y="4138750"/>
            <a:ext cx="7994773" cy="8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1.3. Typy modelů procesu vývoje softwaru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619075"/>
            <a:ext cx="8520600" cy="18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Sekvenční metodiky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Vodopádová metodika, V-model, Rational Unified Process (RUP), Pomalé programování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Iterativní metodiky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Rychlý vývoj aplikací (RAD), Boehmův spirálová metodika, Extrémní programování (XP), Scrum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50" y="2442436"/>
            <a:ext cx="4853426" cy="180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7475" y="2352500"/>
            <a:ext cx="3660000" cy="26386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1205725" y="4678200"/>
            <a:ext cx="22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chemeClr val="dk2"/>
                </a:solidFill>
              </a:rPr>
              <a:t>Sekvenční metodiky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5472925" y="4678200"/>
            <a:ext cx="221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chemeClr val="dk2"/>
                </a:solidFill>
              </a:rPr>
              <a:t>Iterativní</a:t>
            </a:r>
            <a:r>
              <a:rPr b="1" lang="cs" sz="1600">
                <a:solidFill>
                  <a:schemeClr val="dk2"/>
                </a:solidFill>
              </a:rPr>
              <a:t> metodiky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1.4. Agilní metodiky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Agilní manifest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Deklaruje filosofii metodiky vývoje. Takové metodiky pak nazýváme agilní.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Převážná část agilních metodik jsou iterativního charakteru.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Jakkoliv jsou </a:t>
            </a:r>
            <a:r>
              <a:rPr b="1" lang="cs" sz="1400">
                <a:solidFill>
                  <a:srgbClr val="990000"/>
                </a:solidFill>
              </a:rPr>
              <a:t>body napravo</a:t>
            </a:r>
            <a:r>
              <a:rPr lang="cs"/>
              <a:t> hodnotné, </a:t>
            </a:r>
            <a:r>
              <a:rPr b="1" lang="cs" sz="1400">
                <a:solidFill>
                  <a:srgbClr val="6AA84F"/>
                </a:solidFill>
              </a:rPr>
              <a:t>bodů nalevo</a:t>
            </a:r>
            <a:r>
              <a:rPr lang="cs"/>
              <a:t> si ceníme více.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>
                <a:solidFill>
                  <a:srgbClr val="6AA84F"/>
                </a:solidFill>
              </a:rPr>
              <a:t>jednotlivci a interakce</a:t>
            </a:r>
            <a:r>
              <a:rPr lang="cs"/>
              <a:t> mají přednost před </a:t>
            </a:r>
            <a:r>
              <a:rPr b="1" lang="cs">
                <a:solidFill>
                  <a:srgbClr val="990000"/>
                </a:solidFill>
              </a:rPr>
              <a:t>procesy a nástroji</a:t>
            </a:r>
            <a:endParaRPr b="1">
              <a:solidFill>
                <a:srgbClr val="99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>
                <a:solidFill>
                  <a:srgbClr val="6AA84F"/>
                </a:solidFill>
              </a:rPr>
              <a:t>fungují software</a:t>
            </a:r>
            <a:r>
              <a:rPr lang="cs"/>
              <a:t> má přednost před </a:t>
            </a:r>
            <a:r>
              <a:rPr b="1" lang="cs">
                <a:solidFill>
                  <a:srgbClr val="990000"/>
                </a:solidFill>
              </a:rPr>
              <a:t>obsáhlou dokumentací</a:t>
            </a:r>
            <a:endParaRPr b="1">
              <a:solidFill>
                <a:srgbClr val="99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>
                <a:solidFill>
                  <a:srgbClr val="6AA84F"/>
                </a:solidFill>
              </a:rPr>
              <a:t>spolupráce se zákazníkem</a:t>
            </a:r>
            <a:r>
              <a:rPr lang="cs"/>
              <a:t> má přednost před </a:t>
            </a:r>
            <a:r>
              <a:rPr b="1" lang="cs">
                <a:solidFill>
                  <a:srgbClr val="990000"/>
                </a:solidFill>
              </a:rPr>
              <a:t>smluvním vyjednáváním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>
                <a:solidFill>
                  <a:srgbClr val="6AA84F"/>
                </a:solidFill>
              </a:rPr>
              <a:t>reagování na změny</a:t>
            </a:r>
            <a:r>
              <a:rPr lang="cs"/>
              <a:t> má přednost před</a:t>
            </a:r>
            <a:r>
              <a:rPr b="1" lang="cs">
                <a:solidFill>
                  <a:srgbClr val="990000"/>
                </a:solidFill>
              </a:rPr>
              <a:t> postupováním podle plánu</a:t>
            </a:r>
            <a:endParaRPr b="1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1.5. Extrémní programování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Extrémní programování (XP)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Metodika, založená na zkracování zpětnovazebních smyček.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Techniky zkracování zpětné vazby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Vývoj řízený testy (Test-driven development, TDD)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Párové programování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Debugování s gumovou kachničkou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Společná odpovědnost za kód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Refaktorizace bez nutnosti svolení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Krátké iterace v řádu hodin až dnů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Zákazník je na pracovišti jako člen</a:t>
            </a:r>
            <a:br>
              <a:rPr lang="cs"/>
            </a:br>
            <a:r>
              <a:rPr lang="cs"/>
              <a:t>týmu vývojářů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200" y="2447700"/>
            <a:ext cx="4799599" cy="26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1.6. Mlýn (Scrum)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75" y="2747575"/>
            <a:ext cx="8186099" cy="236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619075"/>
            <a:ext cx="8520600" cy="29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Role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Vlastník produktu</a:t>
            </a:r>
            <a:r>
              <a:rPr lang="cs"/>
              <a:t> - zastupuje zadavatele, určuje priority požadavkům, řeší financování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Scrum master</a:t>
            </a:r>
            <a:r>
              <a:rPr lang="cs"/>
              <a:t> - odstraňuje překážky vývojářům, stíní, organizuje a vede vývojáře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Vývojáři </a:t>
            </a:r>
            <a:r>
              <a:rPr lang="cs"/>
              <a:t>- tým vývojářů je typicky složen z 5 až 7 lidí (max 2 pizzy na nasycení)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Artefakty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Produktový zásobník</a:t>
            </a:r>
            <a:r>
              <a:rPr lang="cs"/>
              <a:t> - všechny požadavky zainteresovaných osob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Zásobník sprintu</a:t>
            </a:r>
            <a:r>
              <a:rPr lang="cs"/>
              <a:t> - požadavky na aktuální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Softwarový přírůstek</a:t>
            </a:r>
            <a:r>
              <a:rPr lang="cs"/>
              <a:t> - předchozí vydaná verze obohacená o vyvinuté požadavky sprintu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1.7. Metriky postupu vývoje softwaru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674" y="2195075"/>
            <a:ext cx="4312049" cy="287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619075"/>
            <a:ext cx="67890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Další užitečné artefakty Scrumu pro měření efektivity vývoje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Graf vyhoření (Burndown chart)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liniový graf ukazující zbývající práce v čase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Definice hotového (Definition of Done, DoD)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definice podmínky, které musí být splněny, aby byl požadavek považován za úspěšně implementovaný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Okamžitá rychlost (velocity)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graf porovnání předchozího a</a:t>
            </a:r>
            <a:br>
              <a:rPr lang="cs"/>
            </a:br>
            <a:r>
              <a:rPr lang="cs"/>
              <a:t>aktuálního sprintu pro pochopení</a:t>
            </a:r>
            <a:br>
              <a:rPr lang="cs"/>
            </a:br>
            <a:r>
              <a:rPr lang="cs"/>
              <a:t>kapacit pro vývoj (ale zneužitelný)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Špička (spike)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časově ohraničený úsek, při kterém</a:t>
            </a:r>
            <a:br>
              <a:rPr lang="cs"/>
            </a:br>
            <a:r>
              <a:rPr lang="cs"/>
              <a:t>tým může zkoumat technologie a přijít</a:t>
            </a:r>
            <a:br>
              <a:rPr lang="cs"/>
            </a:br>
            <a:r>
              <a:rPr lang="cs"/>
              <a:t>s technologický důležitým prototypem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1.8. Organizace vývojových požadavků (Kanban tabule)</a:t>
            </a: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3044975" y="919450"/>
            <a:ext cx="1283700" cy="396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3044975" y="919450"/>
            <a:ext cx="1283700" cy="345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To-Do</a:t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4568975" y="919450"/>
            <a:ext cx="1283700" cy="396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4568975" y="919450"/>
            <a:ext cx="1283700" cy="345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Doing</a:t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6092975" y="919450"/>
            <a:ext cx="1283700" cy="396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6092975" y="919450"/>
            <a:ext cx="1283700" cy="345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Testing</a:t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7616975" y="919450"/>
            <a:ext cx="1283700" cy="3960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7616975" y="919450"/>
            <a:ext cx="1283700" cy="345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Done</a:t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3199400" y="1411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R13</a:t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3656600" y="20968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R14</a:t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3199400" y="22492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R15</a:t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3351800" y="2935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R16</a:t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3580400" y="36208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R17</a:t>
            </a:r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>
            <a:off x="3953300" y="1593125"/>
            <a:ext cx="93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4"/>
          <p:cNvCxnSpPr/>
          <p:nvPr/>
        </p:nvCxnSpPr>
        <p:spPr>
          <a:xfrm>
            <a:off x="5477300" y="1593125"/>
            <a:ext cx="93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4"/>
          <p:cNvCxnSpPr/>
          <p:nvPr/>
        </p:nvCxnSpPr>
        <p:spPr>
          <a:xfrm>
            <a:off x="7001300" y="1593125"/>
            <a:ext cx="93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4"/>
          <p:cNvSpPr/>
          <p:nvPr/>
        </p:nvSpPr>
        <p:spPr>
          <a:xfrm>
            <a:off x="7985675" y="1791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</a:t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7796350" y="338720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R2</a:t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6255825" y="18554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R3</a:t>
            </a:r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6675950" y="254952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R4</a:t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6294950" y="360217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R5</a:t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4646188" y="1791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R6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5235563" y="1791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R7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4778013" y="251697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R8</a:t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5229150" y="2935050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R9</a:t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4793550" y="381572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R11</a:t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5127000" y="334907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R10</a:t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5235575" y="4181175"/>
            <a:ext cx="546300" cy="528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R12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256600" y="1711325"/>
            <a:ext cx="2548200" cy="24375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418775" y="1823075"/>
            <a:ext cx="2148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chemeClr val="dk2"/>
                </a:solidFill>
              </a:rPr>
              <a:t>Já (role): </a:t>
            </a:r>
            <a:r>
              <a:rPr lang="cs">
                <a:solidFill>
                  <a:schemeClr val="dk2"/>
                </a:solidFill>
              </a:rPr>
              <a:t>Učitel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18775" y="2280275"/>
            <a:ext cx="2148300" cy="16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chemeClr val="dk2"/>
                </a:solidFill>
              </a:rPr>
              <a:t>Chci</a:t>
            </a:r>
            <a:r>
              <a:rPr b="1" lang="cs">
                <a:solidFill>
                  <a:schemeClr val="dk2"/>
                </a:solidFill>
              </a:rPr>
              <a:t>: </a:t>
            </a:r>
            <a:r>
              <a:rPr lang="cs">
                <a:solidFill>
                  <a:schemeClr val="dk2"/>
                </a:solidFill>
              </a:rPr>
              <a:t>Zapsat v záložce</a:t>
            </a:r>
            <a:br>
              <a:rPr lang="cs">
                <a:solidFill>
                  <a:schemeClr val="dk2"/>
                </a:solidFill>
              </a:rPr>
            </a:br>
            <a:r>
              <a:rPr lang="cs">
                <a:solidFill>
                  <a:schemeClr val="dk2"/>
                </a:solidFill>
              </a:rPr>
              <a:t>zápočet studentům</a:t>
            </a:r>
            <a:br>
              <a:rPr lang="cs">
                <a:solidFill>
                  <a:schemeClr val="dk2"/>
                </a:solidFill>
              </a:rPr>
            </a:br>
            <a:r>
              <a:rPr lang="cs">
                <a:solidFill>
                  <a:schemeClr val="dk2"/>
                </a:solidFill>
              </a:rPr>
              <a:t>úspěšné splnění kurzu.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418775" y="3042275"/>
            <a:ext cx="21483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>
                <a:solidFill>
                  <a:schemeClr val="dk2"/>
                </a:solidFill>
              </a:rPr>
              <a:t>Abych</a:t>
            </a:r>
            <a:r>
              <a:rPr b="1" lang="cs">
                <a:solidFill>
                  <a:schemeClr val="dk2"/>
                </a:solidFill>
              </a:rPr>
              <a:t>: </a:t>
            </a:r>
            <a:r>
              <a:rPr lang="cs">
                <a:solidFill>
                  <a:schemeClr val="dk2"/>
                </a:solidFill>
              </a:rPr>
              <a:t>Mohl zajistit</a:t>
            </a:r>
            <a:br>
              <a:rPr lang="cs">
                <a:solidFill>
                  <a:schemeClr val="dk2"/>
                </a:solidFill>
              </a:rPr>
            </a:br>
            <a:r>
              <a:rPr lang="cs">
                <a:solidFill>
                  <a:schemeClr val="dk2"/>
                </a:solidFill>
              </a:rPr>
              <a:t>roli student úspěšné </a:t>
            </a:r>
            <a:br>
              <a:rPr lang="cs">
                <a:solidFill>
                  <a:schemeClr val="dk2"/>
                </a:solidFill>
              </a:rPr>
            </a:br>
            <a:r>
              <a:rPr lang="cs">
                <a:solidFill>
                  <a:schemeClr val="dk2"/>
                </a:solidFill>
              </a:rPr>
              <a:t>přiřazení zasloužených</a:t>
            </a:r>
            <a:br>
              <a:rPr lang="cs">
                <a:solidFill>
                  <a:schemeClr val="dk2"/>
                </a:solidFill>
              </a:rPr>
            </a:br>
            <a:r>
              <a:rPr lang="cs">
                <a:solidFill>
                  <a:schemeClr val="dk2"/>
                </a:solidFill>
              </a:rPr>
              <a:t>kreditů.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485850" y="1283600"/>
            <a:ext cx="524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chemeClr val="dk2"/>
                </a:solidFill>
              </a:rPr>
              <a:t>Uživatelský příběh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 Shrnutí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Existují různé způsoby jak vyvíjet software, avšak všechny obsahují základní aktivity - analýza, implementace, testování, evoluce.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Metodiky vývoje se rozdělují podle toho, zda se vyvíjí v iteracích nebo sekvenčně, a podle toho, zda se ztotožňujeme s agilním manifestem.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Mezi nejpopulárnější agilní metodiky vývoje patří Scrum, který nejčastěji v dvoutýdenních iteracích (sprinty) vyvíjí inkrement softwaru za asistence svého ochránce (scrum master) a zástupce klienta (product owner).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Požadavky klienta (nejčastěji ve formě uživatelských příběhů) mají svůj životní cyklus a v iterativních metodikách se často přesouvají po Kanban tabuli.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 Výzkumné náměty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cs" sz="1600"/>
              <a:t>P</a:t>
            </a:r>
            <a:r>
              <a:rPr b="1" lang="cs" sz="1600"/>
              <a:t>orovnání efektivity metodik vývoje softwaru</a:t>
            </a:r>
            <a:r>
              <a:rPr lang="cs" sz="1600"/>
              <a:t> (teoretická práce)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Proveďte systematickou rešerši vědeckých článků, které porovnávají efektivitu metodik vývoje softwaru. Využijte k tomu metodiku PRISMA (Preferred Reporting Items for Systematic Reviews and Meta-Analyses)</a:t>
            </a:r>
            <a:br>
              <a:rPr lang="cs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cs" sz="1600"/>
              <a:t>Smart Kanban tabule</a:t>
            </a:r>
            <a:r>
              <a:rPr lang="cs" sz="1600"/>
              <a:t> (praktická práce)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Vytvořte open-source aplikaci, která slouží jako interaktivní Kanban tabule a automatizovaně měří a zobrazuje různé metriky vývoje kódu (burndown, velocity a další, které naleznete).</a:t>
            </a:r>
            <a:br>
              <a:rPr lang="cs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cs" sz="1600"/>
              <a:t>Metodika vývoje softwaru pro studentské týmy</a:t>
            </a:r>
            <a:r>
              <a:rPr lang="cs" sz="1600"/>
              <a:t> (výzkumná práce)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Vymyslete metodiku vývoje softwaru, která je vhodná pro tvorbu projektů na naší univerzitě, kde jsou týmy většinou v počtu 3 studentů. Ověřte efektivitu metodiky pomocí A/B testu na týmech, které aktuálně nějaký projekt vyvíjí.</a:t>
            </a:r>
            <a:br>
              <a:rPr lang="cs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cs" sz="1600"/>
              <a:t>GPT v párovém programování a debuggování s gumovou kachničkou</a:t>
            </a:r>
            <a:r>
              <a:rPr lang="cs" sz="1600"/>
              <a:t> (výzkumná práce)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Proveďte průzkum efektivity párového programování s ChatGPT a debugování s gumovou kachničkou s ChatGPT (kachnička bude GPT) a ověřte na vzorku studentů pomocí A/B testu.</a:t>
            </a:r>
            <a:br>
              <a:rPr lang="cs"/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1. Cvičení - Párové programování s ChatGPT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Zahrajte si s ChatGPT na párové programování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Vytvořte mu pomocí chytrého promptu roli v párovem programování a střídejte se s ním.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Driver - programuje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Navigator - radí při vývoji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Naprogramujte si tímto způsobem nějaký jednoduchý organizátor úkolů a na konci hodiny budeme diskutovat o efektivitě a přínosech.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Seminář 2</a:t>
            </a:r>
            <a:endParaRPr/>
          </a:p>
        </p:txBody>
      </p:sp>
      <p:sp>
        <p:nvSpPr>
          <p:cNvPr id="188" name="Google Shape;188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Inženýrství požadavků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742475"/>
            <a:ext cx="3837000" cy="38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2.1. </a:t>
            </a:r>
            <a:r>
              <a:rPr lang="cs"/>
              <a:t>Proces inženýrství požadavků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Inženýrství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Metodika (až téměř </a:t>
            </a:r>
            <a:r>
              <a:rPr lang="cs"/>
              <a:t>synonymum</a:t>
            </a:r>
            <a:r>
              <a:rPr lang="cs"/>
              <a:t>) pro fázi analýzy požadavků na systém z obecného model 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Aktivity a artefakty procesu inženýrství požadavků: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studie proveditelnosti</a:t>
            </a:r>
            <a:r>
              <a:rPr lang="cs"/>
              <a:t> (artefakt: report o proveditelnosti)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sběr požadavků</a:t>
            </a:r>
            <a:r>
              <a:rPr lang="cs"/>
              <a:t> (artefakt: hrubý seznam požadavků)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analýza požadavků</a:t>
            </a:r>
            <a:r>
              <a:rPr lang="cs"/>
              <a:t> (artefakt: očištěný seznam požadavků)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specifikace požadavků</a:t>
            </a:r>
            <a:r>
              <a:rPr lang="cs"/>
              <a:t> (artefakt: dokumentace specifikace požadavků - uživatelské a systémová)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validace požadavků</a:t>
            </a:r>
            <a:r>
              <a:rPr lang="cs"/>
              <a:t> (artefakt: odsouhlasená dokumentace specifikace požadavků)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Pozor na zmatečnou terminologii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První velká fáze v obecném modelu je Analýza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Inženýrství požadavků je metodika, jak provádět tuto velkou fázi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Inženýrství požadavků obsahuje dílčí aktivitu Analýza požadavků, která představuje něco jiného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2.2. </a:t>
            </a:r>
            <a:r>
              <a:rPr lang="cs"/>
              <a:t>Analýza proveditelnosti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Potřebujeme získat následující informace pro rozhodnutí o případném přijetí projektu: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Je pro nás projekt zajímavý? (finančně, pověst)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Máme k dispozici všechny potřebné zdroje? (čas, vývojáři, technologie)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Máme know-how pro řešení klientova problému?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Chceme takový projekt vyvíjet? (třeba pro nás není zajímavý)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2.3. </a:t>
            </a:r>
            <a:r>
              <a:rPr lang="cs"/>
              <a:t>Sběr požadavků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Tuto fázi procesu (requirements gathering) lze rozdělit na dvě dílčí aktivity: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Počátek sběru (requirements inception)</a:t>
            </a:r>
            <a:r>
              <a:rPr lang="cs"/>
              <a:t> - počáteční sběr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Vyjednávání o požadavcích (requirements elicitation)</a:t>
            </a:r>
            <a:r>
              <a:rPr lang="cs"/>
              <a:t> - kontinuální iterativní sběr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 zvýšení efektivity sběru musí IT analytik provést následující úkony: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seznámit se s problémovou doménou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seznámit se s problémy, které má software uživatelům vyřešit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seznámit se s omezeními, které jsou na software kladeny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Zdroje pro získání požadavků: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uživatelé softwaru</a:t>
            </a:r>
            <a:r>
              <a:rPr lang="cs"/>
              <a:t> - ten, kdo software bude při práci používat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zainteresované osoby</a:t>
            </a:r>
            <a:r>
              <a:rPr lang="cs"/>
              <a:t> - všichni ostatní, kdo mají na vývoji softwaru zájem (typicky vedení)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doménový experti</a:t>
            </a:r>
            <a:r>
              <a:rPr lang="cs"/>
              <a:t> - najatí experti, kteří vědí o kontextu a softwaru daného typu nejvíce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existující systémy</a:t>
            </a:r>
            <a:r>
              <a:rPr lang="cs"/>
              <a:t> - analýza aktuálně používaných SW nebo konkurenčních řešení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dokumenty</a:t>
            </a:r>
            <a:r>
              <a:rPr lang="cs"/>
              <a:t> - dokumenty podniku mohou říci analytikovi hodně o požadavcích jak funkčních (dokumentace </a:t>
            </a:r>
            <a:r>
              <a:rPr lang="cs"/>
              <a:t>podnikových</a:t>
            </a:r>
            <a:r>
              <a:rPr lang="cs"/>
              <a:t> procesů), tak legislativních/standardizačních.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2.4. Nástroje pro sběr požadavků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Existuje velké množství nástrojů a vyjednávacích technik pro sběr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rozhovor (interview)</a:t>
            </a:r>
            <a:r>
              <a:rPr lang="cs"/>
              <a:t> - popovídám si s osobou z očí do očí a oba mi vypráví své představy, já se doptávám na nejasnosti.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strukturovaný rozhovor</a:t>
            </a:r>
            <a:r>
              <a:rPr lang="cs"/>
              <a:t> - to stejné jako interview, ale mám přesně zadané otázky, na které se ptám a které pomohou architektovi software navrhnout.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dotazník </a:t>
            </a:r>
            <a:r>
              <a:rPr lang="cs"/>
              <a:t>- zašlu strukturovaný dotazník všem zainteresovaným osobám a ty mi jej vrátí s </a:t>
            </a:r>
            <a:r>
              <a:rPr lang="cs"/>
              <a:t>odpověďmi</a:t>
            </a:r>
            <a:r>
              <a:rPr lang="cs"/>
              <a:t>, ze kterých </a:t>
            </a:r>
            <a:r>
              <a:rPr lang="cs"/>
              <a:t>získám</a:t>
            </a:r>
            <a:r>
              <a:rPr lang="cs"/>
              <a:t> požadavky (asi nejhorší metoda).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bouře mozků (brainstorming)</a:t>
            </a:r>
            <a:r>
              <a:rPr lang="cs"/>
              <a:t> - pozveme více osob na schůzku, kde si hromadně </a:t>
            </a:r>
            <a:r>
              <a:rPr lang="cs"/>
              <a:t>vyměňujeme</a:t>
            </a:r>
            <a:r>
              <a:rPr lang="cs"/>
              <a:t> nápady.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pozorování uživatelů (task observation, etnography)</a:t>
            </a:r>
            <a:r>
              <a:rPr lang="cs"/>
              <a:t> - sleduji uživatele používat aktuální software nebo pracovat a zapisuju si, jaký je postup a vymýšlím případně jak práci zefektivnit.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modelování případů užití</a:t>
            </a:r>
            <a:r>
              <a:rPr lang="cs"/>
              <a:t> - pomocná technika, kde již získané požadavky vymodeluju diagramem a následně se bavíme s osobou o tom, co lze </a:t>
            </a:r>
            <a:r>
              <a:rPr lang="cs"/>
              <a:t>přidat.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prototypování</a:t>
            </a:r>
            <a:r>
              <a:rPr lang="cs"/>
              <a:t> - pomocná technika, ve které vytvořím statický nebo interaktivní prototyp (třeba ve Figma), díky kterému s klientem přijdeme na další požadavky nebo upravíme stávající.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2.5. Typy požadavků</a:t>
            </a:r>
            <a:endParaRPr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Dvě formy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Uživatelské</a:t>
            </a:r>
            <a:r>
              <a:rPr lang="cs"/>
              <a:t> - </a:t>
            </a:r>
            <a:r>
              <a:rPr lang="cs"/>
              <a:t>napsáno</a:t>
            </a:r>
            <a:r>
              <a:rPr lang="cs"/>
              <a:t> slovy klienta, klient musí těmto požadavkům rozumět pro úpravy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Systémové</a:t>
            </a:r>
            <a:r>
              <a:rPr lang="cs"/>
              <a:t> - napsáno pro vývojáře, využívá se žargonu IT oboru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Dva typy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Funkční</a:t>
            </a:r>
            <a:r>
              <a:rPr lang="cs"/>
              <a:t> - </a:t>
            </a:r>
            <a:r>
              <a:rPr lang="cs"/>
              <a:t>jaké funkcionality musí software vykazovat při interakci s ním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Mimofunkční</a:t>
            </a:r>
            <a:r>
              <a:rPr lang="cs"/>
              <a:t> - požadavky, které jsou kladené na software a nesouvisí s funkcionalitou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Typy mimofunčkních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Produktové</a:t>
            </a:r>
            <a:r>
              <a:rPr lang="cs"/>
              <a:t> - požadavky na chování produktu z dependabilního hlediska (spolehlivost, bezpečnost, zabezpečení, udržovatelnost aj.)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Organizační</a:t>
            </a:r>
            <a:r>
              <a:rPr lang="cs"/>
              <a:t> - požadavky vycházející z vnitřního prostředí podniku, tedy politiky, standardy a procesy podniku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Vnější</a:t>
            </a:r>
            <a:r>
              <a:rPr lang="cs"/>
              <a:t> - požadavky vycházející z legislativy nebo propojitelnosti s jinými produkty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2.6. </a:t>
            </a:r>
            <a:r>
              <a:rPr lang="cs"/>
              <a:t>Analýza požadavků</a:t>
            </a:r>
            <a:endParaRPr/>
          </a:p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Analýzu provádíme za účelem o</a:t>
            </a:r>
            <a:r>
              <a:rPr lang="cs"/>
              <a:t>čištění požadavků s klientem, abychom získali co nejkvalitnější požadavky. Kvalitní požadavky: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jasné</a:t>
            </a:r>
            <a:r>
              <a:rPr lang="cs"/>
              <a:t> - klient chápe, co se požadavkem myslí z podnikového hlediska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pochopitelné</a:t>
            </a:r>
            <a:r>
              <a:rPr lang="cs"/>
              <a:t> - programátor chápe, co se požadavkem myslí z program. hlediska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kompletní</a:t>
            </a:r>
            <a:r>
              <a:rPr lang="cs"/>
              <a:t> - požadavek má všechny potřebné informace pro implementaci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specifické</a:t>
            </a:r>
            <a:r>
              <a:rPr lang="cs"/>
              <a:t> - požadavek je dostatečně detailní pro implementaci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proveditelné</a:t>
            </a:r>
            <a:r>
              <a:rPr lang="cs"/>
              <a:t> - požadavek je reálné implementovat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ověřitelné</a:t>
            </a:r>
            <a:r>
              <a:rPr lang="cs"/>
              <a:t> - jsme schopni ověřit úspěšnou implementaci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kvantifikovatelné</a:t>
            </a:r>
            <a:r>
              <a:rPr lang="cs"/>
              <a:t> - pro mimofunkční požadavky, musíme být schopni číselné změřit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jsou nekonfliktní</a:t>
            </a:r>
            <a:r>
              <a:rPr lang="cs"/>
              <a:t> - není v konfliktu s jiným požadavkem (nejen výlučně, ale i částečně)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Proces čištění požadavků provádíme pomocí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logické analýzy</a:t>
            </a:r>
            <a:r>
              <a:rPr lang="cs"/>
              <a:t> - povinné minimum, představím si požadavek v hlavě a pracuju s ním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formálního hodnocení</a:t>
            </a:r>
            <a:r>
              <a:rPr lang="cs"/>
              <a:t> - zkoumání výše uvedených vlastností kvalitních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prototypování</a:t>
            </a:r>
            <a:r>
              <a:rPr lang="cs"/>
              <a:t> - zkoumání požadavků na grafickém nebo i programovém prototypu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2.7. </a:t>
            </a:r>
            <a:r>
              <a:rPr lang="cs"/>
              <a:t>Specifikace požadavků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</a:t>
            </a:r>
            <a:r>
              <a:rPr lang="cs"/>
              <a:t>roces transformace požadavků zainteresovaných osob ve formální podobě do artefaktu Dokumentace specifikace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uživatelské</a:t>
            </a:r>
            <a:r>
              <a:rPr lang="cs"/>
              <a:t> - napsáno slovy klienta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systémové</a:t>
            </a:r>
            <a:r>
              <a:rPr lang="cs"/>
              <a:t> - napsáno na základě slov klienta pro vývojáře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 dokumentace by mělo být schopno odpovědět na následující otázky: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jaký je účel systému, který chce klient vyvinout?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jaké problémy, které aktuálně klient má, bude systém řešit?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 systém vyřeší tyto problémy?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 bude systém využíván na denní bázi?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jak problémy s výkonem systému ovlivní používání systému na denní bázi?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Pozor na Jeden zdroj pravdy (Single source of truth)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Může se snadno stát, že různí lidé mají různé verze i různé formy (kanban vs textový dokument) toho, co se má formálně vyvinout a způsobuje to chaos.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Zejména u agilních metodik (tam sice dokumentace tolik důležitá, ale také ji vytváříme).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2.8. Modely specifikací požadavků</a:t>
            </a:r>
            <a:endParaRPr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Požadavky lze formalizovat do následujících modelů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Přirozený jazyk (jen mu dáme nějakou korekturu)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všichni</a:t>
            </a:r>
            <a:r>
              <a:rPr lang="cs"/>
              <a:t> mu rozumí, avšak může být vágní při interpretaci vývojáři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Přirozený jazyk s formální strukturou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role, vstupy, výstupy, podmínky, proč to role chce?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Pseudokód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velice dobře interpretovatelné vývojářem, nikoliv klientem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Grafický zápis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kompromis pro vývojáře i klienty, nejčastěji se využívá grafický modelovací jazyk UML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Matematický zápis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vhodné pouze u bezpečnostně kritických systémů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2.9. </a:t>
            </a:r>
            <a:r>
              <a:rPr lang="cs"/>
              <a:t>Správa požadavků</a:t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Požadavky mají vlastní životní cyklus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Zejména v agilních metodikách může docházet často k jejich změnám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Dva způsoby řízení životního cyklu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Psát změny požadavků do dokumentace specifikace požadavků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Využít specializovaný software pro správu požadavků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Funkcionality systému pro správu požadavků (</a:t>
            </a:r>
            <a:r>
              <a:rPr lang="cs">
                <a:solidFill>
                  <a:srgbClr val="980000"/>
                </a:solidFill>
              </a:rPr>
              <a:t>červené body často chybí</a:t>
            </a:r>
            <a:r>
              <a:rPr lang="cs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CRUD operace nad požadavky (vytvoření, prohlížení, úprava, mazání)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Prioritizovat požadavky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Přidělovat vývojářů požadavky k implementaci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Zohlednit role a důležitost zainteresovaných osob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</a:pPr>
            <a:r>
              <a:rPr lang="cs">
                <a:solidFill>
                  <a:srgbClr val="980000"/>
                </a:solidFill>
              </a:rPr>
              <a:t>Propojit se specifikacemi požadavků v zadávací a systémové dokumentací (trasovatelnost)</a:t>
            </a:r>
            <a:endParaRPr>
              <a:solidFill>
                <a:srgbClr val="98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</a:pPr>
            <a:r>
              <a:rPr lang="cs">
                <a:solidFill>
                  <a:srgbClr val="980000"/>
                </a:solidFill>
              </a:rPr>
              <a:t>Vypisovat historické a statistické informace o životním cyklu požadavků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 Shrnutí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Analýza požadavků je fáze vývoje softwaru, při které získáváme pomocí procesu Inženýrství požadavků kvalitní formální zápis požadavků k vývoji.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Jedná se o náročnou fázi, při které IT analytik sbírá požadavky a vyjednává o nich s klientem pomocí různých nástrojů (dotazníky, rozhovor, prototypy). Vzájemné neporozumění může vyústit v neúspěch projektu. 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IT analytik by měl být expertem na mezilidskou komunikaci, vyjednávání (musí umět říct ne) a musí mít znalost problémové domény.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Požadavky je možné reprezentovat pomocí různých modelů. Aktuálně existuje problém s trasovatelností životního cyklu požadavků 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 </a:t>
            </a:r>
            <a:r>
              <a:rPr lang="cs"/>
              <a:t>Výzkumné náměty</a:t>
            </a:r>
            <a:endParaRPr/>
          </a:p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cs" sz="1600"/>
              <a:t>Porovnání efektivity technik a nástrojů při vyjednávání požadavků </a:t>
            </a:r>
            <a:r>
              <a:rPr lang="cs" sz="1600"/>
              <a:t>(teoretická práce)</a:t>
            </a:r>
            <a:endParaRPr sz="16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cs"/>
              <a:t>Proveďte systematickou rešerši vědeckých článků, které porovnávají efektivitu technik a nástrojů pro sběr požadavků. Využijte k tomu metodiku PRISMA (Preferred Reporting Items for Systematic Reviews and Meta-Analyses)</a:t>
            </a:r>
            <a:br>
              <a:rPr lang="cs"/>
            </a:b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cs" sz="1600"/>
              <a:t>Software pro trasovatelnost požadavků</a:t>
            </a:r>
            <a:r>
              <a:rPr lang="cs" sz="1600"/>
              <a:t> (praktická práce)</a:t>
            </a:r>
            <a:endParaRPr sz="16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cs"/>
              <a:t>Vytvořte open-source aplikaci, která slouží jako zapisovač požadavků. Aplikace bude ukládat historii změn požadavků a bude vytvářet různorodé reporty o životním cyklu požadavku. Při změně požadavku automatizovaně upraví dotčené artefakty, aby nedošlo k narušení jednotného zdroje pravdy</a:t>
            </a:r>
            <a:br>
              <a:rPr lang="cs"/>
            </a:b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cs" sz="1600"/>
              <a:t>Upravená metodika inženýrství požadavků pro studentské týmy</a:t>
            </a:r>
            <a:r>
              <a:rPr lang="cs" sz="1600"/>
              <a:t> (výzkumná práce)</a:t>
            </a:r>
            <a:endParaRPr sz="16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cs"/>
              <a:t>Upravte metodiku inženýrství požadavků tak, aby byla vhodná pro tvorbu projektů na naší univerzitě, kde jsou týmy většinou v počtu 3 studentů. Ověřte efektivitu metodiky pomocí A/B testu na týmech, které aktuálně nějaký projekt vyvíjí.</a:t>
            </a:r>
            <a:br>
              <a:rPr lang="cs"/>
            </a:b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cs" sz="1600"/>
              <a:t>Jazykový model jako agent pro vyjednávání o požadavcích</a:t>
            </a:r>
            <a:r>
              <a:rPr lang="cs" sz="1600"/>
              <a:t> (výzkumná práce)</a:t>
            </a:r>
            <a:endParaRPr sz="16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cs"/>
              <a:t>Proveďte průzkum efektivity jazykových modelů jako asistentů pro vyjednávání o požadavcích. Ověřte na vzorku studentů pomocí A/B testu.</a:t>
            </a:r>
            <a:br>
              <a:rPr lang="c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 Cvičení - Umí GPT3.5 trasovat požadavky?</a:t>
            </a:r>
            <a:endParaRPr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Zadejte do ChatGPT požadavky v přirozeném jazyce na software, který má sloužit jako kalkulačka se základními operacemi.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Nechte ho následně vygenerovat Diagram případů užití v jazyce plantUML a zobrazte si ho ve specializovaném webovém softwaru (najděte). Zkontrolujte správnost.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Dále ho nechte k požadavkům vygenerovat uživatelské příběhy. Zkontrulte správnost.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Nechte ho k dílčím požadavkům vygenerovat kód v jazyce Python s jednotkovými testy a ověřte funkčnost.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Vymyslete si nějaký změnový požadavek na stávající funkcionalitu a nechte ho opravit Diagram případů užití, uživatelské příběhy a spustitelný kód. Povedlo se mu správně trasovat změnový požadavek napříč všemi třemi artefakty?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Vytvořte si nové okno v chatu a testujte stabilitu GPT v tomto experimentu.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2. Cvičení - Umí GPT3.5 radit se sběrem požadavků?</a:t>
            </a:r>
            <a:endParaRPr/>
          </a:p>
        </p:txBody>
      </p:sp>
      <p:sp>
        <p:nvSpPr>
          <p:cNvPr id="268" name="Google Shape;268;p4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Udělejte dvojice. Jeden z dvojice bude v roli klienta a druhý v roli analytika.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Zadejte do ChatGPT požadavek na asistenci při sběru požadavků od klienta pro Vámi vybraný software. Dejte mu takový prompt, aby Vám Chat radil s tím, na jaké otázky se zeptat nebo případně doptat na nejasné požadavky.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Sepište si výsledné sesbírané požadavky a dejte je Chatu k finální analýze.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Nechte Chat vygenerovat požadavky ve Vámi vybrané formální podobě.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s"/>
              <a:t>Posuďte, jak moc byl Chat efektivní při pomoci s vyjednáváním o požadavcích.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Seminář 3</a:t>
            </a:r>
            <a:endParaRPr/>
          </a:p>
        </p:txBody>
      </p:sp>
      <p:sp>
        <p:nvSpPr>
          <p:cNvPr id="274" name="Google Shape;274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Softwarová architektura</a:t>
            </a:r>
            <a:endParaRPr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733500"/>
            <a:ext cx="3837000" cy="38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.1. Fáze implementace</a:t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 odsouhlasení dokumentace aplikace začíná návrhová fáze, které se účastní několik rolí (v praxi zastupuje jedna role více ze zmíněných rolí)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Systémový inženýr</a:t>
            </a:r>
            <a:r>
              <a:rPr lang="cs"/>
              <a:t> - </a:t>
            </a:r>
            <a:r>
              <a:rPr lang="cs"/>
              <a:t>navrhuje holistické propojení celého systému za účelem cíleného emergentního chování; zabývá se lidmi, hardwarem, vyvíjeným softwarem a na něj napojenými aplikacemi a modeluje systém pomocí sysML nebo kontextových diagramů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Vedoucí technické stránky vývoje </a:t>
            </a:r>
            <a:r>
              <a:rPr lang="cs"/>
              <a:t>- volí technologický zásobník pro navržený systém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Softwarový architekt </a:t>
            </a:r>
            <a:r>
              <a:rPr lang="cs"/>
              <a:t>- navrhuje komponenty a jejich propojení, ze kterých se vyvíjený software skládá, často ve formě UML diagramů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Návrhář komponent</a:t>
            </a:r>
            <a:r>
              <a:rPr lang="cs"/>
              <a:t> - navrhuje vnitřek komponent (atributy, operace), detalizuje UML diagramy, zejména diagram třídy (class diagram)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Programátor (junior, medior, senior)</a:t>
            </a:r>
            <a:r>
              <a:rPr lang="cs"/>
              <a:t> - implementuje vnitřek komponent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Návrhář uživatelského rozhraní</a:t>
            </a:r>
            <a:r>
              <a:rPr lang="cs"/>
              <a:t> </a:t>
            </a:r>
            <a:r>
              <a:rPr b="1" lang="cs"/>
              <a:t>(UI)</a:t>
            </a:r>
            <a:r>
              <a:rPr lang="cs"/>
              <a:t> - navrhuje vzhled rozhraní aplikace pro uživatele, vytváří k tomu drátěné modely (wireframes) a jednoduché grafické prototypy (mockups)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Návrhář uživatelského zážitku</a:t>
            </a:r>
            <a:r>
              <a:rPr lang="cs"/>
              <a:t> </a:t>
            </a:r>
            <a:r>
              <a:rPr b="1" lang="cs"/>
              <a:t>(UX) </a:t>
            </a:r>
            <a:r>
              <a:rPr lang="cs"/>
              <a:t>- optimalizuje průchod aplikací pro uživatele, používá k tomu vizuální prostředky jako uživatelské dobrodružství (user-journey) a A/B testování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Návrhář interakčního zážitku</a:t>
            </a:r>
            <a:r>
              <a:rPr lang="cs"/>
              <a:t> </a:t>
            </a:r>
            <a:r>
              <a:rPr b="1" lang="cs"/>
              <a:t>(IdX) </a:t>
            </a:r>
            <a:r>
              <a:rPr lang="cs"/>
              <a:t>- optimalizuje zpětnou vazbu (chyba, úspěch, čekání) z aplikace uživateli pro jeho optimální informovanost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.2. Návrh architektury</a:t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Softwarové architektury mají své archetypy (obecné vzory)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Vrstevnatá architektura</a:t>
            </a:r>
            <a:r>
              <a:rPr lang="cs"/>
              <a:t> - dekompozice programu do N vrstev, </a:t>
            </a:r>
            <a:r>
              <a:rPr i="1" lang="cs"/>
              <a:t>př.: TCP/IP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Klient-server</a:t>
            </a:r>
            <a:r>
              <a:rPr lang="cs"/>
              <a:t> - hlavní komponenta (server) poskytuje služby ostatním (klient), </a:t>
            </a:r>
            <a:r>
              <a:rPr i="1" lang="cs"/>
              <a:t>př.: Netflix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Hlavní</a:t>
            </a:r>
            <a:r>
              <a:rPr b="1" lang="cs"/>
              <a:t>-vedlejší</a:t>
            </a:r>
            <a:r>
              <a:rPr lang="cs"/>
              <a:t> </a:t>
            </a:r>
            <a:r>
              <a:rPr b="1" lang="cs"/>
              <a:t>(Master-slave)</a:t>
            </a:r>
            <a:r>
              <a:rPr lang="cs"/>
              <a:t> - hlavní komponenta (master) přiřazuje práci ostatním (slave), </a:t>
            </a:r>
            <a:r>
              <a:rPr i="1" lang="cs"/>
              <a:t>př.: paralelní a distribuované vědecké výpočty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Roury-filtry</a:t>
            </a:r>
            <a:r>
              <a:rPr lang="cs"/>
              <a:t> </a:t>
            </a:r>
            <a:r>
              <a:rPr b="1" lang="cs"/>
              <a:t>(Pipes-filters)</a:t>
            </a:r>
            <a:r>
              <a:rPr lang="cs"/>
              <a:t> - postupné zpracování dat skrze sekvenci aktivit (filtry), </a:t>
            </a:r>
            <a:r>
              <a:rPr i="1" lang="cs"/>
              <a:t>př.: ETL transformace v datové analýze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Zprostředkovatel</a:t>
            </a:r>
            <a:r>
              <a:rPr lang="cs"/>
              <a:t> </a:t>
            </a:r>
            <a:r>
              <a:rPr b="1" lang="cs"/>
              <a:t>(Broker)</a:t>
            </a:r>
            <a:r>
              <a:rPr lang="cs"/>
              <a:t> - zprostředkovatel komunikuje se servery in proxy za klienty a vyjednává s nimi nastavení služby, </a:t>
            </a:r>
            <a:r>
              <a:rPr i="1" lang="cs"/>
              <a:t>př.: RabbitMQ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Peer-to-peer</a:t>
            </a:r>
            <a:r>
              <a:rPr lang="cs"/>
              <a:t> - všichni jsou zároveň servery i klienty a vzájemně žádají o služby, </a:t>
            </a:r>
            <a:r>
              <a:rPr i="1" lang="cs"/>
              <a:t>př.: Torrenty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Událost-sběrnice</a:t>
            </a:r>
            <a:r>
              <a:rPr lang="cs"/>
              <a:t> </a:t>
            </a:r>
            <a:r>
              <a:rPr b="1" lang="cs"/>
              <a:t>(Event-bus)</a:t>
            </a:r>
            <a:r>
              <a:rPr lang="cs"/>
              <a:t> - zdroje událostí zasílají zprávy sběrnicí pro naslouchače, které se registrovaly pro náslech, </a:t>
            </a:r>
            <a:r>
              <a:rPr i="1" lang="cs"/>
              <a:t>př.: Mobilní aplikace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Model-view-controller</a:t>
            </a:r>
            <a:r>
              <a:rPr lang="cs"/>
              <a:t> - model obsahuje data, controller logiku a view vizualizaci, </a:t>
            </a:r>
            <a:r>
              <a:rPr i="1" lang="cs"/>
              <a:t>př.: web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Tabule (blackboard)</a:t>
            </a:r>
            <a:r>
              <a:rPr lang="cs"/>
              <a:t> - tabule je globální paměťový prostor s problémem, zroje znalostí se hlásí o slovo pro aktualizaci stavu problému, řadič je řídí (jako ve škole), </a:t>
            </a:r>
            <a:r>
              <a:rPr i="1" lang="cs"/>
              <a:t>př.: AI, NLP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Tlumočník (interpreter)</a:t>
            </a:r>
            <a:r>
              <a:rPr lang="cs"/>
              <a:t> - čtení instrukcí řádek po řádku a jejich přetlumočení do příkazů, typicky se rozkládají do stromu příkazů, </a:t>
            </a:r>
            <a:r>
              <a:rPr i="1" lang="cs"/>
              <a:t>př.: interpretry programovacích a dotazovacích jazyků</a:t>
            </a:r>
            <a:endParaRPr i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.3. </a:t>
            </a:r>
            <a:r>
              <a:rPr lang="cs"/>
              <a:t>Návrh komponent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Komponenta je prvek systému, který je odpovědný za nějakou izolovanou činnosti (funkce, třída, kolekce tříd až skoro podsystémy). Nejčastěji: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Procedurální programování</a:t>
            </a:r>
            <a:r>
              <a:rPr lang="cs"/>
              <a:t> - komponentou je modul, atributy jsou globální a lokální proměnné, operace jsou funkce a procedury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Objektově-orientované programování</a:t>
            </a:r>
            <a:r>
              <a:rPr lang="cs"/>
              <a:t> - komponentou je třída, atribut je členská proměnná/datový člen a operace jsou metody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Funkcionální programování</a:t>
            </a:r>
            <a:r>
              <a:rPr lang="cs"/>
              <a:t> - komponentou je modul, atributy neexistují (v čistě funkcionálním přístupu neexistuje stav systému), operace jsou funkce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 OOP paradigmatu nejčastěji navrhujeme komponenty pomocí UML jazyka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Diagramy struktury</a:t>
            </a:r>
            <a:r>
              <a:rPr lang="cs"/>
              <a:t> - pro modelování struktury komponent a systému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Diagramy komponent, tříd, objektů, složené struktury, balíčků, nasazení, profilů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Diagramy chování</a:t>
            </a:r>
            <a:r>
              <a:rPr lang="cs"/>
              <a:t> - pro modelování chování komponent a systému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Diagramy případů užití, aktivit, stavů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Diagramy interakce</a:t>
            </a:r>
            <a:r>
              <a:rPr lang="cs"/>
              <a:t> - pro modelování datového toku a řízení uvnitř komponent a systému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Diagramy sekvencí, komunikace, časování, přehledu interakcí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.4. Principy návrhu komponent</a:t>
            </a:r>
            <a:endParaRPr/>
          </a:p>
        </p:txBody>
      </p:sp>
      <p:sp>
        <p:nvSpPr>
          <p:cNvPr id="300" name="Google Shape;300;p46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Existují pravidla, která je vhodné při návrhu dodržet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Modularizace (modularization)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Vyvíjený software je nutné rozdělit do dílčích komponent s oddělenou odpovědností.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Abstrakce (abstraction)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Při návrhu komponent se zaměřuji pouze na podstatné atributy a operace.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Zapouzdření (encapsulation)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Komponenty by měly skrýt implementační detaily pomocí vlastností a rozhraní.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Propojení (coupling)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Komponenty by měly být na sobě co nejméně závislé, změna jedné neovlivní jiné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Soudržnost (cohesion)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Komponenty by měly spolu pracovat skrze rozhraní bez co nejmenšího množství lepidla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Oddělení rozhraní od implementace (separation of interface and implementation)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Komponenty spolupracují pouze přes veřejné rozhraní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Celistvost (completeness)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Rozhraní komponenty má podle svého účelu všechny typicky žádané služby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.5. Návrhové vzory</a:t>
            </a:r>
            <a:endParaRPr/>
          </a:p>
        </p:txBody>
      </p:sp>
      <p:sp>
        <p:nvSpPr>
          <p:cNvPr id="306" name="Google Shape;306;p4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Při navrhování komponent systému pomocí tříd narazíte na spousty problémů, které už někdo jiný řešil (také archetypy, ale menší)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Vzory pro tvorbu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poskytují mechanismy efektivní a udržitelné tvorby komponent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jedináček, tovární metoda, abstraktní továrna, stavitel, prototyp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Vzory pro strukturu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poskytují mechanismy strukturování vnitřku komponent na efektivnější komponentu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fasáda, adaptér, prostředník, dekorátor, muší váha, most, kompozit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Vzory pro chování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poskytují mechanismy, které dodávají komponentam dodatečné flexibilní chování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cs"/>
              <a:t>řetěz odpovědnosti, příkaz, iterátor, prostředník, memento, pozorovatel, stav, strategie, šablonová metoda, návštěvník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.6. Přístupy k vývoji komponent</a:t>
            </a:r>
            <a:endParaRPr/>
          </a:p>
        </p:txBody>
      </p:sp>
      <p:sp>
        <p:nvSpPr>
          <p:cNvPr id="312" name="Google Shape;312;p48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Ať použijete jakoukoliv datovou strukturu pro reprezentaci komponent, musíte navrhnout vyšší komponentní celky pomocí nějakého přístupu.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Top-Down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Představím si chování komponenty a začnu postupně rozkládat komponentu na dílčí. Postupným voláním dílčích komponent dojdu k výslednému touženému chování.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Bottom-Up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Začnu budovat atomární komponenty (funkce, třídy), které poté </a:t>
            </a:r>
            <a:r>
              <a:rPr lang="cs"/>
              <a:t>spojují</a:t>
            </a:r>
            <a:r>
              <a:rPr lang="cs"/>
              <a:t> do </a:t>
            </a:r>
            <a:r>
              <a:rPr lang="cs"/>
              <a:t>větších</a:t>
            </a:r>
            <a:r>
              <a:rPr lang="cs"/>
              <a:t> celků. Zde hrozí porušení principu YAGNI.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Dopředný a zpětný návrh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V praxi vývojáři nenavrhují kód příliš předem (dopředný návrh)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Komponenty systému se spíše hledají v průběhu implementace a dokumentuje se architektura aplikace po vývoji (zpětný návrh)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.7. Základní poučky vývoje komponent</a:t>
            </a:r>
            <a:endParaRPr/>
          </a:p>
        </p:txBody>
      </p:sp>
      <p:sp>
        <p:nvSpPr>
          <p:cNvPr id="318" name="Google Shape;318;p49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KISS (Keep It Simple and Stupid)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Programujme komponenty tak jednoduché, ať je pochopí každý a může je po nás upravovat.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DRY (Don’t Repeat Yourself)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Potřebujeme-li opakování chování, abstrahujme ho do vyšších celků (funkce, třída, modul).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YAGNI (You Ain’t Gonna Need It)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Neprogramujte jakékoliv komponenty, které nejsou na základě požadavků zapotřebí.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AHA (Avoid Hasty Abstraction)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cs"/>
              <a:t>Nepoužívejte přílišnou generalizací pokud nepotřebujeme vytvářet příbuzné potomků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SOLID (pro třídy, ale občas i pro obecné komponenty)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S = Single responsibility princip</a:t>
            </a:r>
            <a:r>
              <a:rPr lang="cs"/>
              <a:t> - třída má být odpovědná za jeden typ úkonů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 = Open/Closed princip</a:t>
            </a:r>
            <a:r>
              <a:rPr lang="cs"/>
              <a:t> - třída má být otevřena pro rozšířená, ale uzavřena pro přepsání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L = Liskovské substituční princip</a:t>
            </a:r>
            <a:r>
              <a:rPr lang="cs"/>
              <a:t> - Typ může být nahrazen svým podtypem.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I = Interface segregration princip</a:t>
            </a:r>
            <a:r>
              <a:rPr lang="cs"/>
              <a:t> - Pokud má třída příliš složité rozhraní, optimalizujme ho buď do více metod s krátkým rozhraním nebo/a využijme polymorfismus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 = Dependency inversion princip</a:t>
            </a:r>
            <a:r>
              <a:rPr lang="cs"/>
              <a:t> - Mezitřídní komunikace nemá záviset na implementaci. Má záviset na abstrakci.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.8. Návrh uživatelského rozhraní (UI, User Interface)</a:t>
            </a:r>
            <a:endParaRPr/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Nástroje pro návrh a optimalizaci uživatelského rozhraní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Drátěný model (Wireframe)</a:t>
            </a:r>
            <a:r>
              <a:rPr lang="cs"/>
              <a:t> - rychlý hrubý nákres rozložení prvků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Maketa (Mockup)</a:t>
            </a:r>
            <a:r>
              <a:rPr lang="cs"/>
              <a:t> - realistický grafický návrh, který připomíná finální produkt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Prototyp (Prototype)</a:t>
            </a:r>
            <a:r>
              <a:rPr lang="cs"/>
              <a:t> - interaktivní simulace finálního produktu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Principy návrhu uživatelského rozhraní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Jasnost (Clarity)</a:t>
            </a:r>
            <a:r>
              <a:rPr lang="cs"/>
              <a:t> - logická organizace prvků podle konceptů z tvarové (gestalt) psychologie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Konzistence</a:t>
            </a:r>
            <a:r>
              <a:rPr b="1" lang="cs"/>
              <a:t> (Consistency)</a:t>
            </a:r>
            <a:r>
              <a:rPr lang="cs"/>
              <a:t> - chování aplikace se nemění, je jednotné a předvídatelné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Zotavitelnost (Recovery)</a:t>
            </a:r>
            <a:r>
              <a:rPr lang="cs"/>
              <a:t> - uživatel by měl snadno navrátit svá rozhodnutí a aplikace by se měla vhodně zotavit z chyb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Pohodlnost (Comfort)</a:t>
            </a:r>
            <a:r>
              <a:rPr lang="cs"/>
              <a:t> - uživatel by měl snadno chápat používání aplikace (včetně obsahu)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Reakceschopnost </a:t>
            </a:r>
            <a:r>
              <a:rPr b="1" lang="cs"/>
              <a:t>(Responsiveness)</a:t>
            </a:r>
            <a:r>
              <a:rPr lang="cs"/>
              <a:t> - poskytování zpětné vazby o stavu aplikace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Přístupnost (Accessibility)</a:t>
            </a:r>
            <a:r>
              <a:rPr lang="cs"/>
              <a:t> - inkluzivní techniky pro lidi s handicapem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Ovladatelnost (</a:t>
            </a:r>
            <a:r>
              <a:rPr b="1" lang="cs"/>
              <a:t>User control)</a:t>
            </a:r>
            <a:r>
              <a:rPr lang="cs"/>
              <a:t> - uživatel by měl být schopen si upravit UI podle svých preferencí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3.9. Uživatelský zážitek (UX, User eXperience)</a:t>
            </a:r>
            <a:endParaRPr/>
          </a:p>
        </p:txBody>
      </p:sp>
      <p:sp>
        <p:nvSpPr>
          <p:cNvPr id="330" name="Google Shape;330;p5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Nástroje pro optimalizaci uživatelského zážitku UX (User eXperience)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Mapa empatie</a:t>
            </a:r>
            <a:r>
              <a:rPr lang="cs"/>
              <a:t> - modeluje znalosti o konkrétním uživateli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Mapa dobrodružství </a:t>
            </a:r>
            <a:r>
              <a:rPr lang="cs"/>
              <a:t>- modeluje, čím konkrétní uživatel nebo role prochází během úkolu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Mapa zážitku</a:t>
            </a:r>
            <a:r>
              <a:rPr lang="cs"/>
              <a:t> - více obecné než dobrodružství, pracuje s obecnou rolí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cs"/>
              <a:t>Šablona služby </a:t>
            </a:r>
            <a:r>
              <a:rPr lang="cs"/>
              <a:t>- odvrácená strana mapy dobrodružství, ukazuje, co se děje na pozadí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 Shrnutí</a:t>
            </a:r>
            <a:endParaRPr/>
          </a:p>
        </p:txBody>
      </p:sp>
      <p:sp>
        <p:nvSpPr>
          <p:cNvPr id="336" name="Google Shape;336;p52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Návrh softwaru zahrnuje spousty dílčích na sebe navazujících návrhářských aktivit od návrhu architektury po návrh samotných komponent a rozhraní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 návrhové potřeby existují archetypy ve formě architektonických vzorů pro softwarovou architekturu a návrhových vzorů pro návrh komponent.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Systém se skládá z podsystémů, které se skládají z komponent. Komponenty se skládají z jiných komponent až na atomické jako jsou funkce a třídy.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Při návrhu a vývoji komponent dodržujeme několik zásadních pouček, jejichž cílem je zkvalitnit výslednou kódovou bázi.</a:t>
            </a:r>
            <a:br>
              <a:rPr lang="c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Progresivní obor je optimalizace UI a UX, pro které stále vznikají nástroje.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 Výzkumné náměty</a:t>
            </a:r>
            <a:endParaRPr/>
          </a:p>
        </p:txBody>
      </p:sp>
      <p:sp>
        <p:nvSpPr>
          <p:cNvPr id="342" name="Google Shape;342;p53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</a:t>
            </a:r>
            <a:r>
              <a:rPr lang="cs"/>
              <a:t>. Cvičení - Rychlý návrh aplikace</a:t>
            </a:r>
            <a:endParaRPr/>
          </a:p>
        </p:txBody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Udělejte dvojice a navrhněte drátěný model aplikace s následujícími funkčními požadavky (Zoo Quest).: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s"/>
              <a:t>Uživatel se přihlásí do aplikace, jinak ho aplikace nikam nepustí.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s"/>
              <a:t>Po přihlášení vidí svou kameru s návodným čtverečkem pro skenování QR kódu. QR kódy se skenují v Ústecké zoo u výběhu zvířat. Pokud by naskenoval jiný QR kód, tak aplikace vyhodí ve stejném okně krátké modální okno s chybovou hláškou. Toto úvodní okno budeme nazývat QR-Hunt.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s"/>
              <a:t>Další okno (může přepínat buď swipováním zprava-doleva nebo v dolní navigační liště klikem na položku menu) je </a:t>
            </a:r>
            <a:r>
              <a:rPr lang="cs"/>
              <a:t>okno s názvem Pokézoo, kde vidí modely různých zvířat, které pomocí QR čtečky oskenoval. Při kliku na ikonu zvířete se otevře okno s detailním 3D modelem zvířete a informacemi o něm.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s"/>
              <a:t>Předposledním oknem je okno s názvem Game, kde nalezne různé výzvy pro dnešní týden. Výzvy mají obtížnost a progress bar, který říká v procentech na kolik je s úkolem uživatel hotov.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cs"/>
              <a:t>Poslední okno je Profil, kde nalezne základní informace o svém účtě a obdržené odznaky (také jim říkáme badges, trophies, achievements).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3. Cvičení - Optimalizace uživatelského zážitku</a:t>
            </a:r>
            <a:endParaRPr/>
          </a:p>
        </p:txBody>
      </p:sp>
      <p:sp>
        <p:nvSpPr>
          <p:cNvPr id="354" name="Google Shape;354;p55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Vytvořte si pomocí Mapy empatie alespoň 3 různorodé osoby. Můžete klidně použít ChatGPT, aby Vám pomohl s charakteristikami.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Poté využijte tyto osoby pro vytvoření Map dobrodružství. Přemýšlejte, jak by osoba reagovala a na základě toho dejte programátorům doporučení na zlepšení UI, Ix nebo samotné funkcionality.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Seminář 8</a:t>
            </a:r>
            <a:endParaRPr/>
          </a:p>
        </p:txBody>
      </p:sp>
      <p:sp>
        <p:nvSpPr>
          <p:cNvPr id="360" name="Google Shape;360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Evoluce softwaru</a:t>
            </a:r>
            <a:endParaRPr/>
          </a:p>
        </p:txBody>
      </p:sp>
      <p:pic>
        <p:nvPicPr>
          <p:cNvPr id="362" name="Google Shape;36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739750"/>
            <a:ext cx="3877125" cy="387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.1. Fáze evoluce</a:t>
            </a:r>
            <a:endParaRPr/>
          </a:p>
        </p:txBody>
      </p:sp>
      <p:sp>
        <p:nvSpPr>
          <p:cNvPr id="368" name="Google Shape;368;p5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lorem</a:t>
            </a:r>
            <a:endParaRPr/>
          </a:p>
        </p:txBody>
      </p:sp>
      <p:sp>
        <p:nvSpPr>
          <p:cNvPr id="369" name="Google Shape;369;p57"/>
          <p:cNvSpPr/>
          <p:nvPr/>
        </p:nvSpPr>
        <p:spPr>
          <a:xfrm>
            <a:off x="789225" y="40699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Počáteční vývoje</a:t>
            </a:r>
            <a:endParaRPr b="1"/>
          </a:p>
        </p:txBody>
      </p:sp>
      <p:sp>
        <p:nvSpPr>
          <p:cNvPr id="370" name="Google Shape;370;p57"/>
          <p:cNvSpPr/>
          <p:nvPr/>
        </p:nvSpPr>
        <p:spPr>
          <a:xfrm>
            <a:off x="2922513" y="40699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Evoluce</a:t>
            </a:r>
            <a:endParaRPr b="1"/>
          </a:p>
        </p:txBody>
      </p:sp>
      <p:sp>
        <p:nvSpPr>
          <p:cNvPr id="371" name="Google Shape;371;p57"/>
          <p:cNvSpPr/>
          <p:nvPr/>
        </p:nvSpPr>
        <p:spPr>
          <a:xfrm>
            <a:off x="5055800" y="40699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Servis</a:t>
            </a:r>
            <a:endParaRPr b="1"/>
          </a:p>
        </p:txBody>
      </p:sp>
      <p:sp>
        <p:nvSpPr>
          <p:cNvPr id="372" name="Google Shape;372;p57"/>
          <p:cNvSpPr/>
          <p:nvPr/>
        </p:nvSpPr>
        <p:spPr>
          <a:xfrm>
            <a:off x="7189075" y="40699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Útlum</a:t>
            </a:r>
            <a:endParaRPr b="1"/>
          </a:p>
        </p:txBody>
      </p:sp>
      <p:cxnSp>
        <p:nvCxnSpPr>
          <p:cNvPr id="373" name="Google Shape;373;p57"/>
          <p:cNvCxnSpPr>
            <a:stCxn id="369" idx="3"/>
            <a:endCxn id="370" idx="1"/>
          </p:cNvCxnSpPr>
          <p:nvPr/>
        </p:nvCxnSpPr>
        <p:spPr>
          <a:xfrm>
            <a:off x="2057025" y="4386925"/>
            <a:ext cx="8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57"/>
          <p:cNvCxnSpPr>
            <a:stCxn id="370" idx="3"/>
            <a:endCxn id="371" idx="1"/>
          </p:cNvCxnSpPr>
          <p:nvPr/>
        </p:nvCxnSpPr>
        <p:spPr>
          <a:xfrm>
            <a:off x="4190313" y="4386925"/>
            <a:ext cx="8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57"/>
          <p:cNvCxnSpPr>
            <a:stCxn id="371" idx="3"/>
            <a:endCxn id="372" idx="1"/>
          </p:cNvCxnSpPr>
          <p:nvPr/>
        </p:nvCxnSpPr>
        <p:spPr>
          <a:xfrm>
            <a:off x="6323600" y="4386925"/>
            <a:ext cx="86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.2. Proces evoluce softwaru</a:t>
            </a:r>
            <a:endParaRPr/>
          </a:p>
        </p:txBody>
      </p:sp>
      <p:sp>
        <p:nvSpPr>
          <p:cNvPr id="381" name="Google Shape;381;p58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lorem</a:t>
            </a:r>
            <a:endParaRPr/>
          </a:p>
        </p:txBody>
      </p:sp>
      <p:sp>
        <p:nvSpPr>
          <p:cNvPr id="382" name="Google Shape;382;p58"/>
          <p:cNvSpPr/>
          <p:nvPr/>
        </p:nvSpPr>
        <p:spPr>
          <a:xfrm>
            <a:off x="420700" y="30793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Žádost o změnu</a:t>
            </a:r>
            <a:endParaRPr b="1"/>
          </a:p>
        </p:txBody>
      </p:sp>
      <p:sp>
        <p:nvSpPr>
          <p:cNvPr id="383" name="Google Shape;383;p58"/>
          <p:cNvSpPr/>
          <p:nvPr/>
        </p:nvSpPr>
        <p:spPr>
          <a:xfrm>
            <a:off x="2111500" y="30793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Analýza dopadů</a:t>
            </a:r>
            <a:endParaRPr b="1"/>
          </a:p>
        </p:txBody>
      </p:sp>
      <p:sp>
        <p:nvSpPr>
          <p:cNvPr id="384" name="Google Shape;384;p58"/>
          <p:cNvSpPr/>
          <p:nvPr/>
        </p:nvSpPr>
        <p:spPr>
          <a:xfrm>
            <a:off x="3802300" y="30793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Plánování vydání</a:t>
            </a:r>
            <a:endParaRPr b="1"/>
          </a:p>
        </p:txBody>
      </p:sp>
      <p:sp>
        <p:nvSpPr>
          <p:cNvPr id="385" name="Google Shape;385;p58"/>
          <p:cNvSpPr/>
          <p:nvPr/>
        </p:nvSpPr>
        <p:spPr>
          <a:xfrm>
            <a:off x="5493088" y="3079375"/>
            <a:ext cx="13707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Implementace změn</a:t>
            </a:r>
            <a:endParaRPr b="1"/>
          </a:p>
        </p:txBody>
      </p:sp>
      <p:sp>
        <p:nvSpPr>
          <p:cNvPr id="386" name="Google Shape;386;p58"/>
          <p:cNvSpPr/>
          <p:nvPr/>
        </p:nvSpPr>
        <p:spPr>
          <a:xfrm>
            <a:off x="7286800" y="3079375"/>
            <a:ext cx="13707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Vydání systému</a:t>
            </a:r>
            <a:endParaRPr b="1"/>
          </a:p>
        </p:txBody>
      </p:sp>
      <p:sp>
        <p:nvSpPr>
          <p:cNvPr id="387" name="Google Shape;387;p58"/>
          <p:cNvSpPr/>
          <p:nvPr/>
        </p:nvSpPr>
        <p:spPr>
          <a:xfrm>
            <a:off x="3802300" y="41461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Adaptace platformy</a:t>
            </a:r>
            <a:endParaRPr b="1"/>
          </a:p>
        </p:txBody>
      </p:sp>
      <p:sp>
        <p:nvSpPr>
          <p:cNvPr id="388" name="Google Shape;388;p58"/>
          <p:cNvSpPr/>
          <p:nvPr/>
        </p:nvSpPr>
        <p:spPr>
          <a:xfrm>
            <a:off x="5291375" y="41461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Zdokonalení systému</a:t>
            </a:r>
            <a:endParaRPr b="1"/>
          </a:p>
        </p:txBody>
      </p:sp>
      <p:sp>
        <p:nvSpPr>
          <p:cNvPr id="389" name="Google Shape;389;p58"/>
          <p:cNvSpPr/>
          <p:nvPr/>
        </p:nvSpPr>
        <p:spPr>
          <a:xfrm>
            <a:off x="2313225" y="4146175"/>
            <a:ext cx="1267800" cy="633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Oprava vad</a:t>
            </a:r>
            <a:endParaRPr b="1"/>
          </a:p>
        </p:txBody>
      </p:sp>
      <p:cxnSp>
        <p:nvCxnSpPr>
          <p:cNvPr id="390" name="Google Shape;390;p58"/>
          <p:cNvCxnSpPr>
            <a:stCxn id="382" idx="3"/>
            <a:endCxn id="383" idx="1"/>
          </p:cNvCxnSpPr>
          <p:nvPr/>
        </p:nvCxnSpPr>
        <p:spPr>
          <a:xfrm>
            <a:off x="1688500" y="3396325"/>
            <a:ext cx="423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58"/>
          <p:cNvCxnSpPr>
            <a:stCxn id="383" idx="3"/>
            <a:endCxn id="384" idx="1"/>
          </p:cNvCxnSpPr>
          <p:nvPr/>
        </p:nvCxnSpPr>
        <p:spPr>
          <a:xfrm>
            <a:off x="3379300" y="3396325"/>
            <a:ext cx="423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58"/>
          <p:cNvCxnSpPr>
            <a:stCxn id="384" idx="3"/>
            <a:endCxn id="385" idx="1"/>
          </p:cNvCxnSpPr>
          <p:nvPr/>
        </p:nvCxnSpPr>
        <p:spPr>
          <a:xfrm>
            <a:off x="5070100" y="3396325"/>
            <a:ext cx="423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58"/>
          <p:cNvCxnSpPr>
            <a:stCxn id="385" idx="3"/>
            <a:endCxn id="386" idx="1"/>
          </p:cNvCxnSpPr>
          <p:nvPr/>
        </p:nvCxnSpPr>
        <p:spPr>
          <a:xfrm>
            <a:off x="6863788" y="3396325"/>
            <a:ext cx="423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58"/>
          <p:cNvCxnSpPr>
            <a:stCxn id="384" idx="2"/>
            <a:endCxn id="387" idx="0"/>
          </p:cNvCxnSpPr>
          <p:nvPr/>
        </p:nvCxnSpPr>
        <p:spPr>
          <a:xfrm>
            <a:off x="4436200" y="3713275"/>
            <a:ext cx="0" cy="43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58"/>
          <p:cNvCxnSpPr>
            <a:stCxn id="384" idx="2"/>
            <a:endCxn id="389" idx="0"/>
          </p:cNvCxnSpPr>
          <p:nvPr/>
        </p:nvCxnSpPr>
        <p:spPr>
          <a:xfrm rot="5400000">
            <a:off x="3475150" y="3185125"/>
            <a:ext cx="432900" cy="1489200"/>
          </a:xfrm>
          <a:prstGeom prst="bentConnector3">
            <a:avLst>
              <a:gd fmla="val 3639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" name="Google Shape;396;p58"/>
          <p:cNvCxnSpPr>
            <a:stCxn id="384" idx="2"/>
            <a:endCxn id="388" idx="0"/>
          </p:cNvCxnSpPr>
          <p:nvPr/>
        </p:nvCxnSpPr>
        <p:spPr>
          <a:xfrm flipH="1" rot="-5400000">
            <a:off x="4964350" y="3185125"/>
            <a:ext cx="432900" cy="1489200"/>
          </a:xfrm>
          <a:prstGeom prst="bentConnector3">
            <a:avLst>
              <a:gd fmla="val 3639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.3. Lehmanovy zákony</a:t>
            </a:r>
            <a:endParaRPr/>
          </a:p>
        </p:txBody>
      </p:sp>
      <p:sp>
        <p:nvSpPr>
          <p:cNvPr id="402" name="Google Shape;402;p59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8.4. Refactoring</a:t>
            </a:r>
            <a:endParaRPr/>
          </a:p>
        </p:txBody>
      </p:sp>
      <p:sp>
        <p:nvSpPr>
          <p:cNvPr id="408" name="Google Shape;408;p60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.5. Fowlerovy zápachy</a:t>
            </a:r>
            <a:endParaRPr/>
          </a:p>
        </p:txBody>
      </p:sp>
      <p:sp>
        <p:nvSpPr>
          <p:cNvPr id="414" name="Google Shape;414;p61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.6. Refaktorizační techniky</a:t>
            </a:r>
            <a:endParaRPr/>
          </a:p>
        </p:txBody>
      </p:sp>
      <p:sp>
        <p:nvSpPr>
          <p:cNvPr id="420" name="Google Shape;420;p62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.7. Údržba starých systémů</a:t>
            </a:r>
            <a:endParaRPr/>
          </a:p>
        </p:txBody>
      </p:sp>
      <p:sp>
        <p:nvSpPr>
          <p:cNvPr id="426" name="Google Shape;426;p63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.8. Reinženýring</a:t>
            </a:r>
            <a:endParaRPr/>
          </a:p>
        </p:txBody>
      </p:sp>
      <p:sp>
        <p:nvSpPr>
          <p:cNvPr id="432" name="Google Shape;432;p64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.9. Výpočet ceny údržby</a:t>
            </a:r>
            <a:endParaRPr/>
          </a:p>
        </p:txBody>
      </p:sp>
      <p:sp>
        <p:nvSpPr>
          <p:cNvPr id="438" name="Google Shape;438;p65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 Shrnutí</a:t>
            </a:r>
            <a:endParaRPr/>
          </a:p>
        </p:txBody>
      </p:sp>
      <p:sp>
        <p:nvSpPr>
          <p:cNvPr id="444" name="Google Shape;444;p66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8</a:t>
            </a:r>
            <a:r>
              <a:rPr lang="cs"/>
              <a:t>. Výzkumné náměty</a:t>
            </a:r>
            <a:endParaRPr/>
          </a:p>
        </p:txBody>
      </p:sp>
      <p:sp>
        <p:nvSpPr>
          <p:cNvPr id="450" name="Google Shape;450;p67"/>
          <p:cNvSpPr txBox="1"/>
          <p:nvPr>
            <p:ph idx="1" type="body"/>
          </p:nvPr>
        </p:nvSpPr>
        <p:spPr>
          <a:xfrm>
            <a:off x="311700" y="619075"/>
            <a:ext cx="8520600" cy="4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
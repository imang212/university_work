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d53a70b54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d53a70b5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53a70b54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53a70b54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53a70b54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d53a70b54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53a70b54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d53a70b54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3a70b54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d53a70b54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53a70b54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53a70b54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53a70b54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53a70b54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53a70b54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53a70b54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53a70b54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53a70b54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53a70b548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d53a70b54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53a70b54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53a70b54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53a70b54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53a70b54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53a70b54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53a70b54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53a70b54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53a70b54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53a70b54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d53a70b54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53a70b54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53a70b54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53a70b54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53a70b54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53a70b54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53a70b54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53a70b54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53a70b54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53a70b54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d53a70b54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53a70b548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53a70b548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53a70b54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53a70b54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53a70b548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d53a70b548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53a70b54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d53a70b54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53a70b54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53a70b54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53a70b54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d53a70b54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53a70b54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53a70b54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53a70b54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d53a70b54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53a70b548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d53a70b54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53a70b54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53a70b54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53a70b548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d53a70b54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53a70b548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d53a70b54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Objektově-orientované návrhové vzory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KI/OONV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638750" y="3742050"/>
            <a:ext cx="586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800">
                <a:solidFill>
                  <a:schemeClr val="dk2"/>
                </a:solidFill>
              </a:rPr>
              <a:t>Pavel Beránek</a:t>
            </a:r>
            <a:br>
              <a:rPr b="1" lang="cs" sz="1800">
                <a:solidFill>
                  <a:schemeClr val="dk2"/>
                </a:solidFill>
              </a:rPr>
            </a:br>
            <a:r>
              <a:rPr b="1" lang="cs" sz="1800">
                <a:solidFill>
                  <a:schemeClr val="dk2"/>
                </a:solidFill>
              </a:rPr>
              <a:t>Katedra informatiky UJEP</a:t>
            </a:r>
            <a:br>
              <a:rPr b="1" lang="cs" sz="1800">
                <a:solidFill>
                  <a:schemeClr val="dk2"/>
                </a:solidFill>
              </a:rPr>
            </a:br>
            <a:r>
              <a:rPr b="1" lang="cs" sz="1800">
                <a:solidFill>
                  <a:schemeClr val="dk2"/>
                </a:solidFill>
              </a:rPr>
              <a:t>2024/2025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Seminář 1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Přehled návrhových vzorů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 Úvod do návrhových vzorů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Co jsou to návrhové vzory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obecně uznávaná, opakovaně použitelná řešení pro běžné problémy, které se vyskytují při vývoji softwarových aplikací (ne konkrétní implementace, jen koncept řešení)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Původ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Design Patterns: Elements of Reusable Object-Oriented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Erich Gamma, Richard Helm, Ralph Johnson, John Vlissides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přezdívka: Gang of Four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Kategorizace návrhových vzorů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Vytvářející vzory: zaměřují se na proces vytváření objektů.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Strukturální vzory: zabývají se kompozicí objektů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Behaviorální vzory: Řeší komunikaci mezi objekty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 Struktury a techniky pro vytváření vzorů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Zapouzdření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Skrytí vnitřních detailů objektu, takže přímý přístup k jeho datům je omezený.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Dědičnost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 Umožňuje jedné třídě (potomkovi) převzít vlastnosti a metody jiné třídy (rodiče).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Polymorfismus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Schopnost objektů reagovat různě na stejný typ požadavku podle kontextu.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Statická třída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Statické třídy se používají pro kód, který je sdílen mezi všemi instancemi a nepotřebuje být vázán na konkrétní objekt. Nelze ji instantizovat.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Abstraktní třída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Slouží jako základ pro jiné třídy, které dědí a implementují její metody.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Rozhraní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Rozhraní definuje "smlouvu" – tedy metody, které musí třída implementovat.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3. SOLID principy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Single Responsibility Principle (SRP)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Každá třída by měla mít pouze jednu odpovědnost nebo důvod ke změně jinak se stává těžší na údržbu a testování,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Open/Closed Principle (OCP)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Když je třeba přidat novou funkcionalitu, mělo by být možné rozšířit existující kód bez úprav původního kódu, což minimalizuje riziko zavedení chyb.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Liskov Substitution Principle (LSP)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Podtřídy by měly zachovávat chování a očekávání rodičovských tříd, aby nedocházelo k nečekanému chování programu.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Interface Segregation Principle (ISP)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Místo jednoho velkého rozhraní je lepší mít několik menších, specifických rozhraní, což umožňuje třídám implementovat pouze metody, které skutečně potřebují.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Dependency Inversion Principle (DIP)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Místo přímé vazby (např. motor → podvozek) bychom měli použít prostředníka, například standardní „zásuvný“ spoj, který definuje, jak motor do podvozku zapadne (rozhraní).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4. Vytvářející vzory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Účel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Zaměřují se na proces vytváření objektů.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Katalog vzorů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Singleton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Prototype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Factory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Abstract factory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Builder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cs"/>
              <a:t>4. Vytvářející vzory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Singleton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</a:t>
            </a:r>
            <a:r>
              <a:rPr lang="cs"/>
              <a:t>ajišťuje, aby třída měla pouze jednu instanci, která je přístupná globálně.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822" y="1891925"/>
            <a:ext cx="6486901" cy="31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4. Vytvářející vzory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Prototype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U</a:t>
            </a:r>
            <a:r>
              <a:rPr lang="cs"/>
              <a:t>možňuje klonování existujících objektů místo jejich vytváření od nuly.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162" y="1898125"/>
            <a:ext cx="5553675" cy="27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4. Vytvářející vzory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Factory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</a:t>
            </a:r>
            <a:r>
              <a:rPr lang="cs"/>
              <a:t>efinuje rozhraní pro vytváření objektů, ale nechává podtřídám rozhodnout, jakou třídu konkrétně instancovat.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700" y="2112400"/>
            <a:ext cx="5910674" cy="30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4. Vytvářející vzory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Abstract factory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</a:t>
            </a:r>
            <a:r>
              <a:rPr lang="cs"/>
              <a:t>oskytuje rozhraní pro tvorbu rodin souvisejících objektů bez určení konkrétní třídy.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875" y="1881875"/>
            <a:ext cx="3888100" cy="32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4. Vytvářející vzory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Builder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U</a:t>
            </a:r>
            <a:r>
              <a:rPr lang="cs"/>
              <a:t>možňuje postupné sestavení složitých objektů.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22575"/>
            <a:ext cx="4789775" cy="30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572" y="1908697"/>
            <a:ext cx="3264750" cy="314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Účel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Zabývají se kompozicí objektů a tříd.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Katalog vzorů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Adapter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Bridge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Composite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Decorator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Facade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Flyweight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Proxy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Adapter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Převádí rozhraní třídy na jiné rozhraní, které klient očekává.</a:t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424" y="1908699"/>
            <a:ext cx="4719326" cy="303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Bridge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Odděluje abstrakci od implementace, což umožňuje jejich nezávislé rozšiřování.</a:t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763" y="1954622"/>
            <a:ext cx="5598475" cy="28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465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Composite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Umožňuje sjednocené zacházení s jednotlivými objekty a jejich kompozicemi.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200" y="323425"/>
            <a:ext cx="4155826" cy="44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Decorator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Dynamicky přidává novou funkcionalitu k objektu.</a:t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013" y="2021497"/>
            <a:ext cx="6081975" cy="29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Facade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Poskytuje zjednodušené rozhraní k rozsáhlému souboru tříd nebo systému.</a:t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838" y="2123725"/>
            <a:ext cx="717232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Flyweight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Snižuje spotřebu paměti sdílením společných částí stavu mezi podobnými objekty.</a:t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50" y="1828825"/>
            <a:ext cx="6589776" cy="314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3875" y="1925000"/>
            <a:ext cx="1294825" cy="29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5. Strukturální vzory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Proxy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Nahrazuje jiný objekt a kontroluje k němu přístup.</a:t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625" y="2158923"/>
            <a:ext cx="5823326" cy="19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Účel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Řeší komunikaci a interakci mezi objekty.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Katalog vzorů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Chain of responsibility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Command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Iterator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Mediator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Memento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Observer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Strategy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Template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Visitor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Chain of responsibility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</a:t>
            </a:r>
            <a:r>
              <a:rPr lang="cs"/>
              <a:t>ředává požadavky po řetězci zpracovatelů, dokud se nenajde ten, který je dokáže obsloužit</a:t>
            </a:r>
            <a:r>
              <a:rPr lang="cs"/>
              <a:t>.</a:t>
            </a:r>
            <a:endParaRPr/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45" y="2020725"/>
            <a:ext cx="4677225" cy="29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050" y="3530853"/>
            <a:ext cx="5454949" cy="129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Command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</a:t>
            </a:r>
            <a:r>
              <a:rPr lang="cs"/>
              <a:t>apouzdřuje požadavek jako objekt, což umožňuje jeho parametrizování a ukládání do fronty</a:t>
            </a:r>
            <a:r>
              <a:rPr lang="cs"/>
              <a:t>.</a:t>
            </a:r>
            <a:endParaRPr/>
          </a:p>
        </p:txBody>
      </p:sp>
      <p:pic>
        <p:nvPicPr>
          <p:cNvPr id="200" name="Google Shape;200;p34"/>
          <p:cNvPicPr preferRelativeResize="0"/>
          <p:nvPr/>
        </p:nvPicPr>
        <p:blipFill rotWithShape="1">
          <a:blip r:embed="rId3">
            <a:alphaModFix/>
          </a:blip>
          <a:srcRect b="19788" l="0" r="0" t="0"/>
          <a:stretch/>
        </p:blipFill>
        <p:spPr>
          <a:xfrm>
            <a:off x="1756800" y="1935475"/>
            <a:ext cx="5188125" cy="12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3775" y="3033375"/>
            <a:ext cx="5382824" cy="21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11700" y="1152475"/>
            <a:ext cx="4365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Iterator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</a:t>
            </a:r>
            <a:r>
              <a:rPr lang="cs"/>
              <a:t>oskytuje sekvenční přístup k prvkům kolekce, aniž by odhaloval její vnitřní strukturu</a:t>
            </a:r>
            <a:r>
              <a:rPr lang="cs"/>
              <a:t>.</a:t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275" y="258700"/>
            <a:ext cx="4273125" cy="47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999" y="3927799"/>
            <a:ext cx="4599575" cy="4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Mediator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Ř</a:t>
            </a:r>
            <a:r>
              <a:rPr lang="cs"/>
              <a:t>ídí komunikaci mezi objekty, aby nebyly závislé přímo na sobě.</a:t>
            </a:r>
            <a:endParaRPr/>
          </a:p>
        </p:txBody>
      </p:sp>
      <p:pic>
        <p:nvPicPr>
          <p:cNvPr id="216" name="Google Shape;21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49" y="1939275"/>
            <a:ext cx="3615975" cy="29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925" y="2010548"/>
            <a:ext cx="3435300" cy="28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Memento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U</a:t>
            </a:r>
            <a:r>
              <a:rPr lang="cs"/>
              <a:t>kládá a obnovuje vnitřní stav objektu bez porušení jeho zapouzdření.</a:t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825" y="2030725"/>
            <a:ext cx="687705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Observer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A</a:t>
            </a:r>
            <a:r>
              <a:rPr lang="cs"/>
              <a:t>utomaticky upozorňuje závislé objekty (pozorovatele) na změny stavu.</a:t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301" y="1864450"/>
            <a:ext cx="5629275" cy="31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U</a:t>
            </a:r>
            <a:r>
              <a:rPr lang="cs"/>
              <a:t>možňuje objektům měnit chování při změně jejich vnitřního stavu.</a:t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828" y="1776300"/>
            <a:ext cx="4196125" cy="336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097" y="2102222"/>
            <a:ext cx="3353400" cy="27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Strategy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Definuje rodinu algoritmů a umožňuje jejich zaměnitelnost během běhu programu.</a:t>
            </a:r>
            <a:endParaRPr/>
          </a:p>
        </p:txBody>
      </p:sp>
      <p:pic>
        <p:nvPicPr>
          <p:cNvPr id="246" name="Google Shape;2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750" y="1904625"/>
            <a:ext cx="5925250" cy="30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Template 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</a:t>
            </a:r>
            <a:r>
              <a:rPr lang="cs"/>
              <a:t>efinuje kostru algoritmu s tím, že některé kroky ponechává na podtřídách.</a:t>
            </a:r>
            <a:endParaRPr/>
          </a:p>
        </p:txBody>
      </p:sp>
      <p:pic>
        <p:nvPicPr>
          <p:cNvPr id="253" name="Google Shape;253;p41"/>
          <p:cNvPicPr preferRelativeResize="0"/>
          <p:nvPr/>
        </p:nvPicPr>
        <p:blipFill rotWithShape="1">
          <a:blip r:embed="rId3">
            <a:alphaModFix/>
          </a:blip>
          <a:srcRect b="0" l="0" r="0" t="30771"/>
          <a:stretch/>
        </p:blipFill>
        <p:spPr>
          <a:xfrm>
            <a:off x="1346575" y="1894325"/>
            <a:ext cx="6131374" cy="31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6. Behaviorální vzory</a:t>
            </a:r>
            <a:endParaRPr/>
          </a:p>
        </p:txBody>
      </p:sp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Visitor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O</a:t>
            </a:r>
            <a:r>
              <a:rPr lang="cs"/>
              <a:t>dděluje algoritmus od struktury objektů, na kterých se provádí, umožňuje nové operace bez změny tříd.</a:t>
            </a:r>
            <a:endParaRPr/>
          </a:p>
        </p:txBody>
      </p:sp>
      <p:pic>
        <p:nvPicPr>
          <p:cNvPr id="260" name="Google Shape;26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425" y="1824775"/>
            <a:ext cx="5740125" cy="287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2"/>
          <p:cNvPicPr preferRelativeResize="0"/>
          <p:nvPr/>
        </p:nvPicPr>
        <p:blipFill rotWithShape="1">
          <a:blip r:embed="rId4">
            <a:alphaModFix/>
          </a:blip>
          <a:srcRect b="0" l="5535" r="0" t="0"/>
          <a:stretch/>
        </p:blipFill>
        <p:spPr>
          <a:xfrm>
            <a:off x="199675" y="3884625"/>
            <a:ext cx="5321574" cy="12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7. Anti-patterns</a:t>
            </a:r>
            <a:endParaRPr/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Č</a:t>
            </a:r>
            <a:r>
              <a:rPr lang="cs"/>
              <a:t>asto používané, ale problematické návrhy, které místo řešení mohou způsobovat problémy v dlouhodobé udržitelnosti a kvalitě kódu.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Spaghetti Code:</a:t>
            </a:r>
            <a:r>
              <a:rPr lang="cs"/>
              <a:t> Kód bez jasné struktury, s vysokou provázaností, často plný náhodně uspořádaných závislostí; obtížně se v něm orientuje a udržuje.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Golden Hammer:</a:t>
            </a:r>
            <a:r>
              <a:rPr lang="cs"/>
              <a:t> Používání jednoho oblíbeného řešení nebo nástroje na různé problémy, bez ohledu na to, zda je vhodné.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God Object (Blob): </a:t>
            </a:r>
            <a:r>
              <a:rPr lang="cs"/>
              <a:t>Objekt, který má příliš mnoho odpovědností, centralizuje velkou část logiky aplikace a porušuje princip jedné odpovědnosti.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Lava Flow:</a:t>
            </a:r>
            <a:r>
              <a:rPr lang="cs"/>
              <a:t> Zastaralý, ale ponechaný kód, který už není potřeba, ale stále zabírá prostor a komplikuje vývoj.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Copy-Paste Programming:</a:t>
            </a:r>
            <a:r>
              <a:rPr lang="cs"/>
              <a:t> Kód se kopíruje a vkládá, což vede k duplicitnímu kódu, těžko udržovatelnému a náchylnému k chybám.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Poltergeist:</a:t>
            </a:r>
            <a:r>
              <a:rPr lang="cs"/>
              <a:t> Objekty, které existují jen proto, aby předávaly data jiným objektům, což způsobuje nadbytečnou složitost.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7. Anti-patterns</a:t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Magic Numbers:</a:t>
            </a:r>
            <a:r>
              <a:rPr lang="cs"/>
              <a:t> Používání čísel v kódu bez kontextu nebo pojmenování, což snižuje čitelnost a udržitelnost.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Hard-Coding: </a:t>
            </a:r>
            <a:r>
              <a:rPr lang="cs"/>
              <a:t>Přímé zadání hodnot, cest nebo konfigurací do kódu místo jejich parametrizace nebo uložení do externích souborů.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Premature Optimization: </a:t>
            </a:r>
            <a:r>
              <a:rPr lang="cs"/>
              <a:t>Optimalizace, která se provádí příliš brzy, ještě předtím, než jsou skutečné problémy s výkonem identifikovány, což vede k složitějšímu kódu.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Sequential Coupling: </a:t>
            </a:r>
            <a:r>
              <a:rPr lang="cs"/>
              <a:t>Nutnost volání metod ve specifickém pořadí, což snižuje flexibilitu a zvyšuje možnost chyb.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Dead Code:</a:t>
            </a:r>
            <a:r>
              <a:rPr lang="cs"/>
              <a:t> Kód, který se nikdy nevykonává, ale zůstává ve zdrojovém kódu a znepřehledňuje ho.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Singleton Overuse:</a:t>
            </a:r>
            <a:r>
              <a:rPr lang="cs"/>
              <a:t> Nadměrné používání Singleton vzoru, které vede k problémům s testovatelností a údržbou.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Cyclic Dependencies:</a:t>
            </a:r>
            <a:r>
              <a:rPr lang="cs"/>
              <a:t> Vzájemné závislosti mezi moduly nebo třídami, což komplikuje sestavení a údržbu kódu.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7. Anti-patterns</a:t>
            </a:r>
            <a:endParaRPr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Reinventing the Wheel:</a:t>
            </a:r>
            <a:r>
              <a:rPr lang="cs"/>
              <a:t> Zbytečné vytváření vlastních řešení pro běžné problémy místo využití již existujících a osvědčených knihoven nebo vzorů.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Action at a Distance:</a:t>
            </a:r>
            <a:r>
              <a:rPr lang="cs"/>
              <a:t> Situace, kdy akce v jedné části systému neočekávaně ovlivňuje chování v jiné části, což komplikuje ladění a údržbu.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Stovepipe System:</a:t>
            </a:r>
            <a:r>
              <a:rPr lang="cs"/>
              <a:t> Oddělené a nepropojené subsystémy, které vedou k redundanci a obtížně se integrují do většího celku.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God Class / Monster Class:</a:t>
            </a:r>
            <a:r>
              <a:rPr lang="cs"/>
              <a:t> Třídy s příliš velkou odpovědností a komplexitou, což odporuje principům objektově orientovaného návrhu.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Soft Coding:</a:t>
            </a:r>
            <a:r>
              <a:rPr lang="cs"/>
              <a:t> Nadměrné použití parametrů a externích souborů pro konfiguraci, což může zkomplikovat logiku a znepřehlednit kód.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Big Ball of Mud:</a:t>
            </a:r>
            <a:r>
              <a:rPr lang="cs"/>
              <a:t> Systém bez jasné architektury nebo designu, kde jsou části kódu slepené dohromady bez struktury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YAGNI (You Aren't Gonna Need It): </a:t>
            </a:r>
            <a:r>
              <a:rPr lang="cs"/>
              <a:t>Předčasné přidávání funkcionality, která v danou chvíli není potřeba, což vede k nadbytečné složitosti.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